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58" r:id="rId4"/>
    <p:sldId id="259" r:id="rId5"/>
    <p:sldId id="263" r:id="rId6"/>
    <p:sldId id="261" r:id="rId7"/>
    <p:sldId id="265" r:id="rId8"/>
    <p:sldId id="275" r:id="rId9"/>
    <p:sldId id="267" r:id="rId10"/>
    <p:sldId id="268" r:id="rId11"/>
    <p:sldId id="269" r:id="rId12"/>
    <p:sldId id="27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ABCE8-2D34-461B-BEF7-3A795D64DDAD}" v="1571" dt="2025-12-16T00:44:10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ias T" userId="bb23ba4437e88a33" providerId="LiveId" clId="{06494D95-6EC0-4CCA-8479-7A9506E1FDE8}"/>
    <pc:docChg chg="undo redo custSel addSld delSld modSld sldOrd modMainMaster">
      <pc:chgData name="Yosias T" userId="bb23ba4437e88a33" providerId="LiveId" clId="{06494D95-6EC0-4CCA-8479-7A9506E1FDE8}" dt="2025-12-18T22:54:42.881" v="9401" actId="20577"/>
      <pc:docMkLst>
        <pc:docMk/>
      </pc:docMkLst>
      <pc:sldChg chg="modSp new mod setBg">
        <pc:chgData name="Yosias T" userId="bb23ba4437e88a33" providerId="LiveId" clId="{06494D95-6EC0-4CCA-8479-7A9506E1FDE8}" dt="2025-12-15T23:24:57.425" v="8803" actId="313"/>
        <pc:sldMkLst>
          <pc:docMk/>
          <pc:sldMk cId="1374043693" sldId="256"/>
        </pc:sldMkLst>
        <pc:spChg chg="mod">
          <ac:chgData name="Yosias T" userId="bb23ba4437e88a33" providerId="LiveId" clId="{06494D95-6EC0-4CCA-8479-7A9506E1FDE8}" dt="2025-12-04T21:55:39.982" v="216" actId="20577"/>
          <ac:spMkLst>
            <pc:docMk/>
            <pc:sldMk cId="1374043693" sldId="256"/>
            <ac:spMk id="2" creationId="{2C3D8C5B-2848-1909-C86A-2DF5859BDAFA}"/>
          </ac:spMkLst>
        </pc:spChg>
        <pc:spChg chg="mod">
          <ac:chgData name="Yosias T" userId="bb23ba4437e88a33" providerId="LiveId" clId="{06494D95-6EC0-4CCA-8479-7A9506E1FDE8}" dt="2025-12-15T23:24:57.425" v="8803" actId="313"/>
          <ac:spMkLst>
            <pc:docMk/>
            <pc:sldMk cId="1374043693" sldId="256"/>
            <ac:spMk id="3" creationId="{2B36431A-8638-88DF-FE93-D07659FC8C5C}"/>
          </ac:spMkLst>
        </pc:spChg>
      </pc:sldChg>
      <pc:sldChg chg="addSp delSp modSp new mod setBg modClrScheme chgLayout">
        <pc:chgData name="Yosias T" userId="bb23ba4437e88a33" providerId="LiveId" clId="{06494D95-6EC0-4CCA-8479-7A9506E1FDE8}" dt="2025-12-16T00:39:16.858" v="9192" actId="114"/>
        <pc:sldMkLst>
          <pc:docMk/>
          <pc:sldMk cId="4073966239" sldId="258"/>
        </pc:sldMkLst>
        <pc:spChg chg="mod ord">
          <ac:chgData name="Yosias T" userId="bb23ba4437e88a33" providerId="LiveId" clId="{06494D95-6EC0-4CCA-8479-7A9506E1FDE8}" dt="2025-12-16T00:29:47.876" v="9123" actId="114"/>
          <ac:spMkLst>
            <pc:docMk/>
            <pc:sldMk cId="4073966239" sldId="258"/>
            <ac:spMk id="2" creationId="{41162FE0-84AB-4B02-75BF-9089946CD192}"/>
          </ac:spMkLst>
        </pc:spChg>
        <pc:spChg chg="add del mod ord">
          <ac:chgData name="Yosias T" userId="bb23ba4437e88a33" providerId="LiveId" clId="{06494D95-6EC0-4CCA-8479-7A9506E1FDE8}" dt="2025-12-04T22:08:11.065" v="621" actId="20577"/>
          <ac:spMkLst>
            <pc:docMk/>
            <pc:sldMk cId="4073966239" sldId="258"/>
            <ac:spMk id="3" creationId="{83B93F57-7AF6-3525-6CDA-3BAC5B01D89A}"/>
          </ac:spMkLst>
        </pc:spChg>
        <pc:spChg chg="add mod ord">
          <ac:chgData name="Yosias T" userId="bb23ba4437e88a33" providerId="LiveId" clId="{06494D95-6EC0-4CCA-8479-7A9506E1FDE8}" dt="2025-12-16T00:39:16.858" v="9192" actId="114"/>
          <ac:spMkLst>
            <pc:docMk/>
            <pc:sldMk cId="4073966239" sldId="258"/>
            <ac:spMk id="11" creationId="{E3DA727E-8C5D-4A51-C057-439E3E2D2653}"/>
          </ac:spMkLst>
        </pc:spChg>
      </pc:sldChg>
      <pc:sldChg chg="addSp delSp modSp new mod setBg modClrScheme chgLayout">
        <pc:chgData name="Yosias T" userId="bb23ba4437e88a33" providerId="LiveId" clId="{06494D95-6EC0-4CCA-8479-7A9506E1FDE8}" dt="2025-12-16T00:12:52.615" v="8926" actId="20577"/>
        <pc:sldMkLst>
          <pc:docMk/>
          <pc:sldMk cId="712124507" sldId="259"/>
        </pc:sldMkLst>
        <pc:spChg chg="mod ord">
          <ac:chgData name="Yosias T" userId="bb23ba4437e88a33" providerId="LiveId" clId="{06494D95-6EC0-4CCA-8479-7A9506E1FDE8}" dt="2025-12-16T00:12:52.615" v="8926" actId="20577"/>
          <ac:spMkLst>
            <pc:docMk/>
            <pc:sldMk cId="712124507" sldId="259"/>
            <ac:spMk id="2" creationId="{48FF2C53-9BB4-1766-EE8B-39403EE17864}"/>
          </ac:spMkLst>
        </pc:spChg>
        <pc:spChg chg="add mod ord">
          <ac:chgData name="Yosias T" userId="bb23ba4437e88a33" providerId="LiveId" clId="{06494D95-6EC0-4CCA-8479-7A9506E1FDE8}" dt="2025-12-04T22:42:49.325" v="1197" actId="20577"/>
          <ac:spMkLst>
            <pc:docMk/>
            <pc:sldMk cId="712124507" sldId="259"/>
            <ac:spMk id="5" creationId="{26E15C65-9D6D-4518-7A01-5BEC98C418FE}"/>
          </ac:spMkLst>
        </pc:spChg>
        <pc:graphicFrameChg chg="add mod modGraphic">
          <ac:chgData name="Yosias T" userId="bb23ba4437e88a33" providerId="LiveId" clId="{06494D95-6EC0-4CCA-8479-7A9506E1FDE8}" dt="2025-12-08T22:36:08.884" v="5947"/>
          <ac:graphicFrameMkLst>
            <pc:docMk/>
            <pc:sldMk cId="712124507" sldId="259"/>
            <ac:graphicFrameMk id="7" creationId="{C448A49F-287C-44FA-AC5D-BB04796FA22D}"/>
          </ac:graphicFrameMkLst>
        </pc:graphicFrameChg>
      </pc:sldChg>
      <pc:sldChg chg="addSp modSp new mod modNotesTx">
        <pc:chgData name="Yosias T" userId="bb23ba4437e88a33" providerId="LiveId" clId="{06494D95-6EC0-4CCA-8479-7A9506E1FDE8}" dt="2025-12-16T00:41:26.440" v="9237" actId="20577"/>
        <pc:sldMkLst>
          <pc:docMk/>
          <pc:sldMk cId="3180731159" sldId="261"/>
        </pc:sldMkLst>
        <pc:spChg chg="mod">
          <ac:chgData name="Yosias T" userId="bb23ba4437e88a33" providerId="LiveId" clId="{06494D95-6EC0-4CCA-8479-7A9506E1FDE8}" dt="2025-12-15T23:39:40.498" v="8879" actId="27636"/>
          <ac:spMkLst>
            <pc:docMk/>
            <pc:sldMk cId="3180731159" sldId="261"/>
            <ac:spMk id="2" creationId="{276B32DE-505B-453B-FD83-380141F33C79}"/>
          </ac:spMkLst>
        </pc:spChg>
        <pc:spChg chg="mod">
          <ac:chgData name="Yosias T" userId="bb23ba4437e88a33" providerId="LiveId" clId="{06494D95-6EC0-4CCA-8479-7A9506E1FDE8}" dt="2025-12-05T21:58:09.784" v="3298" actId="20577"/>
          <ac:spMkLst>
            <pc:docMk/>
            <pc:sldMk cId="3180731159" sldId="261"/>
            <ac:spMk id="3" creationId="{BAA7B892-BBB2-C868-907D-8AF07653E3AD}"/>
          </ac:spMkLst>
        </pc:spChg>
        <pc:spChg chg="add mod">
          <ac:chgData name="Yosias T" userId="bb23ba4437e88a33" providerId="LiveId" clId="{06494D95-6EC0-4CCA-8479-7A9506E1FDE8}" dt="2025-12-16T00:41:14.510" v="9200" actId="207"/>
          <ac:spMkLst>
            <pc:docMk/>
            <pc:sldMk cId="3180731159" sldId="261"/>
            <ac:spMk id="5" creationId="{42C6FAF4-AC3F-CA7B-4C76-3FDD95F4FC87}"/>
          </ac:spMkLst>
        </pc:spChg>
        <pc:graphicFrameChg chg="add mod">
          <ac:chgData name="Yosias T" userId="bb23ba4437e88a33" providerId="LiveId" clId="{06494D95-6EC0-4CCA-8479-7A9506E1FDE8}" dt="2025-12-15T23:47:16.606" v="8882" actId="692"/>
          <ac:graphicFrameMkLst>
            <pc:docMk/>
            <pc:sldMk cId="3180731159" sldId="261"/>
            <ac:graphicFrameMk id="4" creationId="{B5FB9035-EB86-B9E3-A29C-294794A2E8DC}"/>
          </ac:graphicFrameMkLst>
        </pc:graphicFrameChg>
      </pc:sldChg>
      <pc:sldChg chg="addSp modSp add mod setBg">
        <pc:chgData name="Yosias T" userId="bb23ba4437e88a33" providerId="LiveId" clId="{06494D95-6EC0-4CCA-8479-7A9506E1FDE8}" dt="2025-12-16T00:40:39.682" v="9199" actId="20577"/>
        <pc:sldMkLst>
          <pc:docMk/>
          <pc:sldMk cId="1692379504" sldId="263"/>
        </pc:sldMkLst>
        <pc:spChg chg="mod">
          <ac:chgData name="Yosias T" userId="bb23ba4437e88a33" providerId="LiveId" clId="{06494D95-6EC0-4CCA-8479-7A9506E1FDE8}" dt="2025-12-04T23:38:59.948" v="2278" actId="404"/>
          <ac:spMkLst>
            <pc:docMk/>
            <pc:sldMk cId="1692379504" sldId="263"/>
            <ac:spMk id="2" creationId="{D8281CB5-E528-899B-5BD1-05D69994CBC7}"/>
          </ac:spMkLst>
        </pc:spChg>
        <pc:spChg chg="mod">
          <ac:chgData name="Yosias T" userId="bb23ba4437e88a33" providerId="LiveId" clId="{06494D95-6EC0-4CCA-8479-7A9506E1FDE8}" dt="2025-12-16T00:40:39.682" v="9199" actId="20577"/>
          <ac:spMkLst>
            <pc:docMk/>
            <pc:sldMk cId="1692379504" sldId="263"/>
            <ac:spMk id="3" creationId="{B8C4BCDC-B355-4494-BBBF-7AB5BC12EA6E}"/>
          </ac:spMkLst>
        </pc:spChg>
        <pc:graphicFrameChg chg="mod">
          <ac:chgData name="Yosias T" userId="bb23ba4437e88a33" providerId="LiveId" clId="{06494D95-6EC0-4CCA-8479-7A9506E1FDE8}" dt="2025-12-15T23:31:09.113" v="8857"/>
          <ac:graphicFrameMkLst>
            <pc:docMk/>
            <pc:sldMk cId="1692379504" sldId="263"/>
            <ac:graphicFrameMk id="4" creationId="{C3F6B5F1-4549-E2CB-7E8A-9F0A4CE0AA6A}"/>
          </ac:graphicFrameMkLst>
        </pc:graphicFrameChg>
        <pc:picChg chg="add mod">
          <ac:chgData name="Yosias T" userId="bb23ba4437e88a33" providerId="LiveId" clId="{06494D95-6EC0-4CCA-8479-7A9506E1FDE8}" dt="2025-12-15T23:31:31.305" v="8861" actId="1076"/>
          <ac:picMkLst>
            <pc:docMk/>
            <pc:sldMk cId="1692379504" sldId="263"/>
            <ac:picMk id="6" creationId="{50F63BFC-3674-572B-DB96-77BFDA59836D}"/>
          </ac:picMkLst>
        </pc:picChg>
        <pc:picChg chg="add mod">
          <ac:chgData name="Yosias T" userId="bb23ba4437e88a33" providerId="LiveId" clId="{06494D95-6EC0-4CCA-8479-7A9506E1FDE8}" dt="2025-12-15T23:31:22.086" v="8859" actId="1076"/>
          <ac:picMkLst>
            <pc:docMk/>
            <pc:sldMk cId="1692379504" sldId="263"/>
            <ac:picMk id="8" creationId="{229A4A54-B43F-0596-E345-7F46F6B9C881}"/>
          </ac:picMkLst>
        </pc:picChg>
        <pc:picChg chg="add mod">
          <ac:chgData name="Yosias T" userId="bb23ba4437e88a33" providerId="LiveId" clId="{06494D95-6EC0-4CCA-8479-7A9506E1FDE8}" dt="2025-12-15T23:31:22.086" v="8859" actId="1076"/>
          <ac:picMkLst>
            <pc:docMk/>
            <pc:sldMk cId="1692379504" sldId="263"/>
            <ac:picMk id="10" creationId="{53FEAF54-EA1E-0600-8A02-5FCF2835E13C}"/>
          </ac:picMkLst>
        </pc:picChg>
      </pc:sldChg>
      <pc:sldChg chg="addSp delSp modSp add mod setBg">
        <pc:chgData name="Yosias T" userId="bb23ba4437e88a33" providerId="LiveId" clId="{06494D95-6EC0-4CCA-8479-7A9506E1FDE8}" dt="2025-12-15T23:46:30.590" v="8881" actId="692"/>
        <pc:sldMkLst>
          <pc:docMk/>
          <pc:sldMk cId="4246419534" sldId="265"/>
        </pc:sldMkLst>
        <pc:spChg chg="mod">
          <ac:chgData name="Yosias T" userId="bb23ba4437e88a33" providerId="LiveId" clId="{06494D95-6EC0-4CCA-8479-7A9506E1FDE8}" dt="2025-12-10T23:59:41.465" v="8122" actId="20577"/>
          <ac:spMkLst>
            <pc:docMk/>
            <pc:sldMk cId="4246419534" sldId="265"/>
            <ac:spMk id="2" creationId="{DD2A4268-D39D-A9E5-C7FA-C12F35D67911}"/>
          </ac:spMkLst>
        </pc:spChg>
        <pc:spChg chg="mod">
          <ac:chgData name="Yosias T" userId="bb23ba4437e88a33" providerId="LiveId" clId="{06494D95-6EC0-4CCA-8479-7A9506E1FDE8}" dt="2025-12-10T23:54:19.667" v="8113" actId="20577"/>
          <ac:spMkLst>
            <pc:docMk/>
            <pc:sldMk cId="4246419534" sldId="265"/>
            <ac:spMk id="3" creationId="{DA1A923B-36F3-B3D0-74A5-D2F2E292E729}"/>
          </ac:spMkLst>
        </pc:spChg>
        <pc:spChg chg="add">
          <ac:chgData name="Yosias T" userId="bb23ba4437e88a33" providerId="LiveId" clId="{06494D95-6EC0-4CCA-8479-7A9506E1FDE8}" dt="2025-12-05T23:08:17.784" v="4300" actId="26606"/>
          <ac:spMkLst>
            <pc:docMk/>
            <pc:sldMk cId="4246419534" sldId="265"/>
            <ac:spMk id="28" creationId="{7FF47CB7-972F-479F-A36D-9E72D26EC8DA}"/>
          </ac:spMkLst>
        </pc:spChg>
        <pc:spChg chg="add">
          <ac:chgData name="Yosias T" userId="bb23ba4437e88a33" providerId="LiveId" clId="{06494D95-6EC0-4CCA-8479-7A9506E1FDE8}" dt="2025-12-05T23:08:17.784" v="4300" actId="26606"/>
          <ac:spMkLst>
            <pc:docMk/>
            <pc:sldMk cId="4246419534" sldId="265"/>
            <ac:spMk id="29" creationId="{0D153B68-5844-490D-8E67-F616D6D721CA}"/>
          </ac:spMkLst>
        </pc:spChg>
        <pc:spChg chg="add">
          <ac:chgData name="Yosias T" userId="bb23ba4437e88a33" providerId="LiveId" clId="{06494D95-6EC0-4CCA-8479-7A9506E1FDE8}" dt="2025-12-05T23:08:17.784" v="4300" actId="26606"/>
          <ac:spMkLst>
            <pc:docMk/>
            <pc:sldMk cId="4246419534" sldId="265"/>
            <ac:spMk id="30" creationId="{9A0D773F-7A7D-4DBB-9DEA-86BB8B8F4BC8}"/>
          </ac:spMkLst>
        </pc:spChg>
        <pc:graphicFrameChg chg="add mod">
          <ac:chgData name="Yosias T" userId="bb23ba4437e88a33" providerId="LiveId" clId="{06494D95-6EC0-4CCA-8479-7A9506E1FDE8}" dt="2025-12-15T23:46:30.590" v="8881" actId="692"/>
          <ac:graphicFrameMkLst>
            <pc:docMk/>
            <pc:sldMk cId="4246419534" sldId="265"/>
            <ac:graphicFrameMk id="5" creationId="{60CA64B3-CCD1-B64F-D462-031287D9B220}"/>
          </ac:graphicFrameMkLst>
        </pc:graphicFrameChg>
      </pc:sldChg>
      <pc:sldChg chg="addSp delSp modSp new mod setBg">
        <pc:chgData name="Yosias T" userId="bb23ba4437e88a33" providerId="LiveId" clId="{06494D95-6EC0-4CCA-8479-7A9506E1FDE8}" dt="2025-12-11T00:18:22.299" v="8323" actId="692"/>
        <pc:sldMkLst>
          <pc:docMk/>
          <pc:sldMk cId="1397003552" sldId="267"/>
        </pc:sldMkLst>
        <pc:spChg chg="mod">
          <ac:chgData name="Yosias T" userId="bb23ba4437e88a33" providerId="LiveId" clId="{06494D95-6EC0-4CCA-8479-7A9506E1FDE8}" dt="2025-12-08T22:06:55.587" v="5167" actId="26606"/>
          <ac:spMkLst>
            <pc:docMk/>
            <pc:sldMk cId="1397003552" sldId="267"/>
            <ac:spMk id="2" creationId="{685F1539-2B76-5880-4B1F-F7E6C5B69C22}"/>
          </ac:spMkLst>
        </pc:spChg>
        <pc:spChg chg="mod">
          <ac:chgData name="Yosias T" userId="bb23ba4437e88a33" providerId="LiveId" clId="{06494D95-6EC0-4CCA-8479-7A9506E1FDE8}" dt="2025-12-08T22:14:25.276" v="5673" actId="20577"/>
          <ac:spMkLst>
            <pc:docMk/>
            <pc:sldMk cId="1397003552" sldId="267"/>
            <ac:spMk id="3" creationId="{F5C53460-CE48-C721-2E96-3862696F9D41}"/>
          </ac:spMkLst>
        </pc:spChg>
        <pc:graphicFrameChg chg="add mod">
          <ac:chgData name="Yosias T" userId="bb23ba4437e88a33" providerId="LiveId" clId="{06494D95-6EC0-4CCA-8479-7A9506E1FDE8}" dt="2025-12-11T00:18:22.299" v="8323" actId="692"/>
          <ac:graphicFrameMkLst>
            <pc:docMk/>
            <pc:sldMk cId="1397003552" sldId="267"/>
            <ac:graphicFrameMk id="4" creationId="{98BA3001-BF90-4EF4-8013-E45FC5A27D1B}"/>
          </ac:graphicFrameMkLst>
        </pc:graphicFrameChg>
      </pc:sldChg>
      <pc:sldChg chg="addSp delSp modSp new mod setBg">
        <pc:chgData name="Yosias T" userId="bb23ba4437e88a33" providerId="LiveId" clId="{06494D95-6EC0-4CCA-8479-7A9506E1FDE8}" dt="2025-12-12T21:34:00.504" v="8621" actId="20577"/>
        <pc:sldMkLst>
          <pc:docMk/>
          <pc:sldMk cId="1750161475" sldId="268"/>
        </pc:sldMkLst>
        <pc:spChg chg="mod">
          <ac:chgData name="Yosias T" userId="bb23ba4437e88a33" providerId="LiveId" clId="{06494D95-6EC0-4CCA-8479-7A9506E1FDE8}" dt="2025-12-09T22:31:29.580" v="6653" actId="26606"/>
          <ac:spMkLst>
            <pc:docMk/>
            <pc:sldMk cId="1750161475" sldId="268"/>
            <ac:spMk id="2" creationId="{5A6E0BF4-B297-0559-70FE-A8A1C1032B33}"/>
          </ac:spMkLst>
        </pc:spChg>
        <pc:spChg chg="add del mod">
          <ac:chgData name="Yosias T" userId="bb23ba4437e88a33" providerId="LiveId" clId="{06494D95-6EC0-4CCA-8479-7A9506E1FDE8}" dt="2025-12-12T21:34:00.504" v="8621" actId="20577"/>
          <ac:spMkLst>
            <pc:docMk/>
            <pc:sldMk cId="1750161475" sldId="268"/>
            <ac:spMk id="3" creationId="{6C1DD7F3-2C0F-64EC-6E29-2307EF5DDE80}"/>
          </ac:spMkLst>
        </pc:spChg>
      </pc:sldChg>
      <pc:sldChg chg="addSp delSp modSp new mod setBg">
        <pc:chgData name="Yosias T" userId="bb23ba4437e88a33" providerId="LiveId" clId="{06494D95-6EC0-4CCA-8479-7A9506E1FDE8}" dt="2025-12-15T23:48:27.880" v="8891" actId="27918"/>
        <pc:sldMkLst>
          <pc:docMk/>
          <pc:sldMk cId="1273847759" sldId="269"/>
        </pc:sldMkLst>
        <pc:spChg chg="mod">
          <ac:chgData name="Yosias T" userId="bb23ba4437e88a33" providerId="LiveId" clId="{06494D95-6EC0-4CCA-8479-7A9506E1FDE8}" dt="2025-12-08T22:52:45.600" v="5950" actId="27636"/>
          <ac:spMkLst>
            <pc:docMk/>
            <pc:sldMk cId="1273847759" sldId="269"/>
            <ac:spMk id="2" creationId="{2250BA43-5CD5-37F4-3D9B-383BC932DA83}"/>
          </ac:spMkLst>
        </pc:spChg>
        <pc:spChg chg="add mod">
          <ac:chgData name="Yosias T" userId="bb23ba4437e88a33" providerId="LiveId" clId="{06494D95-6EC0-4CCA-8479-7A9506E1FDE8}" dt="2025-12-09T22:42:34.106" v="6764" actId="20577"/>
          <ac:spMkLst>
            <pc:docMk/>
            <pc:sldMk cId="1273847759" sldId="269"/>
            <ac:spMk id="3" creationId="{CF163DCC-8DA7-EE90-5E6B-4308B4C5AC7B}"/>
          </ac:spMkLst>
        </pc:spChg>
        <pc:spChg chg="add">
          <ac:chgData name="Yosias T" userId="bb23ba4437e88a33" providerId="LiveId" clId="{06494D95-6EC0-4CCA-8479-7A9506E1FDE8}" dt="2025-12-08T22:29:37.954" v="5874" actId="26606"/>
          <ac:spMkLst>
            <pc:docMk/>
            <pc:sldMk cId="1273847759" sldId="269"/>
            <ac:spMk id="8" creationId="{F0DCC097-1DB8-4B6D-85D0-6FBA0E1CA4BA}"/>
          </ac:spMkLst>
        </pc:spChg>
        <pc:spChg chg="add">
          <ac:chgData name="Yosias T" userId="bb23ba4437e88a33" providerId="LiveId" clId="{06494D95-6EC0-4CCA-8479-7A9506E1FDE8}" dt="2025-12-08T22:29:37.954" v="5874" actId="26606"/>
          <ac:spMkLst>
            <pc:docMk/>
            <pc:sldMk cId="1273847759" sldId="269"/>
            <ac:spMk id="11" creationId="{E0B58608-23C8-4441-994D-C6823EEE1DB7}"/>
          </ac:spMkLst>
        </pc:spChg>
        <pc:graphicFrameChg chg="add mod">
          <ac:chgData name="Yosias T" userId="bb23ba4437e88a33" providerId="LiveId" clId="{06494D95-6EC0-4CCA-8479-7A9506E1FDE8}" dt="2025-12-15T23:48:08.636" v="8889" actId="692"/>
          <ac:graphicFrameMkLst>
            <pc:docMk/>
            <pc:sldMk cId="1273847759" sldId="269"/>
            <ac:graphicFrameMk id="10" creationId="{CABD7BED-6A90-45AD-86CC-273BAAF04F8D}"/>
          </ac:graphicFrameMkLst>
        </pc:graphicFrameChg>
      </pc:sldChg>
      <pc:sldChg chg="addSp delSp modSp new mod setBg setClrOvrMap">
        <pc:chgData name="Yosias T" userId="bb23ba4437e88a33" providerId="LiveId" clId="{06494D95-6EC0-4CCA-8479-7A9506E1FDE8}" dt="2025-12-12T21:49:33.131" v="8622" actId="5793"/>
        <pc:sldMkLst>
          <pc:docMk/>
          <pc:sldMk cId="614904864" sldId="271"/>
        </pc:sldMkLst>
        <pc:spChg chg="mod">
          <ac:chgData name="Yosias T" userId="bb23ba4437e88a33" providerId="LiveId" clId="{06494D95-6EC0-4CCA-8479-7A9506E1FDE8}" dt="2025-12-09T21:07:23.432" v="6106" actId="26606"/>
          <ac:spMkLst>
            <pc:docMk/>
            <pc:sldMk cId="614904864" sldId="271"/>
            <ac:spMk id="2" creationId="{38F15DF3-9A14-6B79-CF9F-3F037B3A3D2F}"/>
          </ac:spMkLst>
        </pc:spChg>
        <pc:spChg chg="add del mod">
          <ac:chgData name="Yosias T" userId="bb23ba4437e88a33" providerId="LiveId" clId="{06494D95-6EC0-4CCA-8479-7A9506E1FDE8}" dt="2025-12-12T21:49:33.131" v="8622" actId="5793"/>
          <ac:spMkLst>
            <pc:docMk/>
            <pc:sldMk cId="614904864" sldId="271"/>
            <ac:spMk id="3" creationId="{A5D88005-1372-51BF-4A2C-C9A6F0AD6439}"/>
          </ac:spMkLst>
        </pc:spChg>
      </pc:sldChg>
      <pc:sldChg chg="addSp delSp modSp new mod ord setBg modAnim">
        <pc:chgData name="Yosias T" userId="bb23ba4437e88a33" providerId="LiveId" clId="{06494D95-6EC0-4CCA-8479-7A9506E1FDE8}" dt="2025-12-18T22:54:42.881" v="9401" actId="20577"/>
        <pc:sldMkLst>
          <pc:docMk/>
          <pc:sldMk cId="1554819422" sldId="273"/>
        </pc:sldMkLst>
        <pc:spChg chg="mod">
          <ac:chgData name="Yosias T" userId="bb23ba4437e88a33" providerId="LiveId" clId="{06494D95-6EC0-4CCA-8479-7A9506E1FDE8}" dt="2025-12-15T23:49:21.596" v="8893" actId="115"/>
          <ac:spMkLst>
            <pc:docMk/>
            <pc:sldMk cId="1554819422" sldId="273"/>
            <ac:spMk id="2" creationId="{782BEB14-081C-E7AA-13CF-AC14ED615126}"/>
          </ac:spMkLst>
        </pc:spChg>
        <pc:spChg chg="add del mod">
          <ac:chgData name="Yosias T" userId="bb23ba4437e88a33" providerId="LiveId" clId="{06494D95-6EC0-4CCA-8479-7A9506E1FDE8}" dt="2025-12-10T00:20:14.230" v="8067" actId="255"/>
          <ac:spMkLst>
            <pc:docMk/>
            <pc:sldMk cId="1554819422" sldId="273"/>
            <ac:spMk id="3" creationId="{23B6672F-6667-59CC-C967-961446590BDA}"/>
          </ac:spMkLst>
        </pc:spChg>
        <pc:spChg chg="add mod">
          <ac:chgData name="Yosias T" userId="bb23ba4437e88a33" providerId="LiveId" clId="{06494D95-6EC0-4CCA-8479-7A9506E1FDE8}" dt="2025-12-18T22:54:42.881" v="9401" actId="20577"/>
          <ac:spMkLst>
            <pc:docMk/>
            <pc:sldMk cId="1554819422" sldId="273"/>
            <ac:spMk id="7" creationId="{D4C81CDD-5E5A-337D-FDC2-1F67D2EE79EE}"/>
          </ac:spMkLst>
        </pc:spChg>
      </pc:sldChg>
      <pc:sldChg chg="addSp delSp modSp add mod setBg">
        <pc:chgData name="Yosias T" userId="bb23ba4437e88a33" providerId="LiveId" clId="{06494D95-6EC0-4CCA-8479-7A9506E1FDE8}" dt="2025-12-16T00:37:02.235" v="9187" actId="114"/>
        <pc:sldMkLst>
          <pc:docMk/>
          <pc:sldMk cId="261335666" sldId="274"/>
        </pc:sldMkLst>
        <pc:spChg chg="mod">
          <ac:chgData name="Yosias T" userId="bb23ba4437e88a33" providerId="LiveId" clId="{06494D95-6EC0-4CCA-8479-7A9506E1FDE8}" dt="2025-12-16T00:37:02.235" v="9187" actId="114"/>
          <ac:spMkLst>
            <pc:docMk/>
            <pc:sldMk cId="261335666" sldId="274"/>
            <ac:spMk id="2" creationId="{FD63295D-8F8F-8EA3-995D-3944C4C7F69F}"/>
          </ac:spMkLst>
        </pc:spChg>
        <pc:spChg chg="mod">
          <ac:chgData name="Yosias T" userId="bb23ba4437e88a33" providerId="LiveId" clId="{06494D95-6EC0-4CCA-8479-7A9506E1FDE8}" dt="2025-12-16T00:36:50.470" v="9183" actId="115"/>
          <ac:spMkLst>
            <pc:docMk/>
            <pc:sldMk cId="261335666" sldId="274"/>
            <ac:spMk id="3" creationId="{4F670E29-BCF3-6902-9DC2-99DB91842F94}"/>
          </ac:spMkLst>
        </pc:spChg>
        <pc:spChg chg="add del">
          <ac:chgData name="Yosias T" userId="bb23ba4437e88a33" providerId="LiveId" clId="{06494D95-6EC0-4CCA-8479-7A9506E1FDE8}" dt="2025-12-16T00:34:41.884" v="9159" actId="26606"/>
          <ac:spMkLst>
            <pc:docMk/>
            <pc:sldMk cId="261335666" sldId="274"/>
            <ac:spMk id="9" creationId="{9F7D5CDA-D291-4307-BF55-1381FED29634}"/>
          </ac:spMkLst>
        </pc:spChg>
        <pc:picChg chg="add mod">
          <ac:chgData name="Yosias T" userId="bb23ba4437e88a33" providerId="LiveId" clId="{06494D95-6EC0-4CCA-8479-7A9506E1FDE8}" dt="2025-12-16T00:34:41.884" v="9159" actId="26606"/>
          <ac:picMkLst>
            <pc:docMk/>
            <pc:sldMk cId="261335666" sldId="274"/>
            <ac:picMk id="4" creationId="{469628FA-0A70-F561-BFBA-8276C51E5C8A}"/>
          </ac:picMkLst>
        </pc:picChg>
      </pc:sldChg>
      <pc:sldChg chg="modSp add mod modNotesTx">
        <pc:chgData name="Yosias T" userId="bb23ba4437e88a33" providerId="LiveId" clId="{06494D95-6EC0-4CCA-8479-7A9506E1FDE8}" dt="2025-12-16T00:44:25.585" v="9318" actId="20577"/>
        <pc:sldMkLst>
          <pc:docMk/>
          <pc:sldMk cId="19565115" sldId="275"/>
        </pc:sldMkLst>
        <pc:spChg chg="mod">
          <ac:chgData name="Yosias T" userId="bb23ba4437e88a33" providerId="LiveId" clId="{06494D95-6EC0-4CCA-8479-7A9506E1FDE8}" dt="2025-12-16T00:42:29.952" v="9240" actId="207"/>
          <ac:spMkLst>
            <pc:docMk/>
            <pc:sldMk cId="19565115" sldId="275"/>
            <ac:spMk id="2" creationId="{68B37435-2890-357F-1C34-7968509B5A9D}"/>
          </ac:spMkLst>
        </pc:spChg>
        <pc:spChg chg="mod">
          <ac:chgData name="Yosias T" userId="bb23ba4437e88a33" providerId="LiveId" clId="{06494D95-6EC0-4CCA-8479-7A9506E1FDE8}" dt="2025-12-16T00:44:25.585" v="9318" actId="20577"/>
          <ac:spMkLst>
            <pc:docMk/>
            <pc:sldMk cId="19565115" sldId="275"/>
            <ac:spMk id="3" creationId="{C7425DAB-5415-9AC8-7E49-399409340E5F}"/>
          </ac:spMkLst>
        </pc:spChg>
        <pc:graphicFrameChg chg="mod">
          <ac:chgData name="Yosias T" userId="bb23ba4437e88a33" providerId="LiveId" clId="{06494D95-6EC0-4CCA-8479-7A9506E1FDE8}" dt="2025-12-16T00:43:55.810" v="9312" actId="14100"/>
          <ac:graphicFrameMkLst>
            <pc:docMk/>
            <pc:sldMk cId="19565115" sldId="275"/>
            <ac:graphicFrameMk id="5" creationId="{E0510A0C-FBDE-7408-5E26-6813B075234A}"/>
          </ac:graphicFrameMkLst>
        </pc:graphicFrameChg>
      </pc:sldChg>
      <pc:sldMasterChg chg="setBg">
        <pc:chgData name="Yosias T" userId="bb23ba4437e88a33" providerId="LiveId" clId="{06494D95-6EC0-4CCA-8479-7A9506E1FDE8}" dt="2025-12-16T00:32:27.637" v="9133"/>
        <pc:sldMasterMkLst>
          <pc:docMk/>
          <pc:sldMasterMk cId="827319543" sldId="2147483648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bb23ba4437e88a33/Documents/SQL%20learning/AirBnb%20Project/Final%20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Rental Scope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rental_scope_summary!$D$1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rental_scope_summary!$A$2:$A$4</c:f>
              <c:strCache>
                <c:ptCount val="3"/>
                <c:pt idx="0">
                  <c:v>Entire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rental_scope_summary!$D$2:$D$4</c:f>
              <c:numCache>
                <c:formatCode>_-"$"* #,##0_-;\-"$"* #,##0_-;_-"$"* "-"??_-;_-@_-</c:formatCode>
                <c:ptCount val="3"/>
                <c:pt idx="0">
                  <c:v>29730.53</c:v>
                </c:pt>
                <c:pt idx="1">
                  <c:v>11277.17</c:v>
                </c:pt>
                <c:pt idx="2">
                  <c:v>5053.1899999999996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0-44E4-8FCE-5F7DB1AD1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8035775"/>
        <c:axId val="668034335"/>
      </c:barChart>
      <c:lineChart>
        <c:grouping val="standard"/>
        <c:varyColors val="0"/>
        <c:ser>
          <c:idx val="1"/>
          <c:order val="1"/>
          <c:tx>
            <c:strRef>
              <c:f>rental_scope_summary!$F$1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rental_scope_summary!$A$2:$A$4</c:f>
              <c:strCache>
                <c:ptCount val="3"/>
                <c:pt idx="0">
                  <c:v>Entire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rental_scope_summary!$F$2:$F$4</c:f>
              <c:numCache>
                <c:formatCode>General</c:formatCode>
                <c:ptCount val="3"/>
                <c:pt idx="0">
                  <c:v>137.66999999999999</c:v>
                </c:pt>
                <c:pt idx="1">
                  <c:v>132.80000000000001</c:v>
                </c:pt>
                <c:pt idx="2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80-44E4-8FCE-5F7DB1AD1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8029055"/>
        <c:axId val="668036735"/>
      </c:lineChart>
      <c:catAx>
        <c:axId val="668035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857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34335"/>
        <c:crosses val="autoZero"/>
        <c:auto val="1"/>
        <c:lblAlgn val="ctr"/>
        <c:lblOffset val="100"/>
        <c:noMultiLvlLbl val="0"/>
      </c:catAx>
      <c:valAx>
        <c:axId val="668034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35775"/>
        <c:crosses val="autoZero"/>
        <c:crossBetween val="between"/>
      </c:valAx>
      <c:valAx>
        <c:axId val="66803673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29055"/>
        <c:crosses val="max"/>
        <c:crossBetween val="between"/>
      </c:valAx>
      <c:catAx>
        <c:axId val="668029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680367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Neighbourhood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rental_scopeXneighbourhood!$E$1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3B-4A8A-B22C-1C18885168CF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3B-4A8A-B22C-1C1888516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rental_scopeXneighbourhood!$B$2:$B$18</c:f>
              <c:strCache>
                <c:ptCount val="17"/>
                <c:pt idx="0">
                  <c:v>Downtown Core</c:v>
                </c:pt>
                <c:pt idx="1">
                  <c:v>East End</c:v>
                </c:pt>
                <c:pt idx="2">
                  <c:v>Etobicoke</c:v>
                </c:pt>
                <c:pt idx="3">
                  <c:v>Midtown</c:v>
                </c:pt>
                <c:pt idx="4">
                  <c:v>North York</c:v>
                </c:pt>
                <c:pt idx="5">
                  <c:v>Scarborough</c:v>
                </c:pt>
                <c:pt idx="6">
                  <c:v>West End</c:v>
                </c:pt>
                <c:pt idx="7">
                  <c:v>Downtown Core</c:v>
                </c:pt>
                <c:pt idx="8">
                  <c:v>East End</c:v>
                </c:pt>
                <c:pt idx="9">
                  <c:v>Etobicoke</c:v>
                </c:pt>
                <c:pt idx="10">
                  <c:v>Midtown</c:v>
                </c:pt>
                <c:pt idx="11">
                  <c:v>North York</c:v>
                </c:pt>
                <c:pt idx="12">
                  <c:v>Scarborough</c:v>
                </c:pt>
                <c:pt idx="13">
                  <c:v>West End</c:v>
                </c:pt>
                <c:pt idx="14">
                  <c:v>Downtown Core</c:v>
                </c:pt>
                <c:pt idx="15">
                  <c:v>North York</c:v>
                </c:pt>
                <c:pt idx="16">
                  <c:v>Scarborough</c:v>
                </c:pt>
              </c:strCache>
            </c:strRef>
          </c:cat>
          <c:val>
            <c:numRef>
              <c:f>rental_scopeXneighbourhood!$E$2:$E$18</c:f>
              <c:numCache>
                <c:formatCode>_-"$"* #,##0_-;\-"$"* #,##0_-;_-"$"* "-"??_-;_-@_-</c:formatCode>
                <c:ptCount val="17"/>
                <c:pt idx="0">
                  <c:v>33682.050000000003</c:v>
                </c:pt>
                <c:pt idx="1">
                  <c:v>23835.919999999998</c:v>
                </c:pt>
                <c:pt idx="2">
                  <c:v>22133.62</c:v>
                </c:pt>
                <c:pt idx="3">
                  <c:v>21471.41</c:v>
                </c:pt>
                <c:pt idx="4">
                  <c:v>22640.09</c:v>
                </c:pt>
                <c:pt idx="5">
                  <c:v>21128.73</c:v>
                </c:pt>
                <c:pt idx="6">
                  <c:v>18925.91</c:v>
                </c:pt>
                <c:pt idx="7">
                  <c:v>16304.29</c:v>
                </c:pt>
                <c:pt idx="8">
                  <c:v>10751.83</c:v>
                </c:pt>
                <c:pt idx="9">
                  <c:v>9076.51</c:v>
                </c:pt>
                <c:pt idx="10">
                  <c:v>10683.1</c:v>
                </c:pt>
                <c:pt idx="11">
                  <c:v>6876.63</c:v>
                </c:pt>
                <c:pt idx="12">
                  <c:v>8296.31</c:v>
                </c:pt>
                <c:pt idx="13">
                  <c:v>8594.51</c:v>
                </c:pt>
                <c:pt idx="14">
                  <c:v>6129.58</c:v>
                </c:pt>
                <c:pt idx="15">
                  <c:v>1741.33</c:v>
                </c:pt>
                <c:pt idx="16">
                  <c:v>2072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2-4E5A-96E5-010FA23F0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5173440"/>
        <c:axId val="1225174400"/>
      </c:barChart>
      <c:lineChart>
        <c:grouping val="standard"/>
        <c:varyColors val="0"/>
        <c:ser>
          <c:idx val="1"/>
          <c:order val="1"/>
          <c:tx>
            <c:strRef>
              <c:f>rental_scopeXneighbourhood!$G$1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3B-4A8A-B22C-1C1888516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rental_scopeXneighbourhood!$B$2:$B$18</c:f>
              <c:strCache>
                <c:ptCount val="17"/>
                <c:pt idx="0">
                  <c:v>Downtown Core</c:v>
                </c:pt>
                <c:pt idx="1">
                  <c:v>East End</c:v>
                </c:pt>
                <c:pt idx="2">
                  <c:v>Etobicoke</c:v>
                </c:pt>
                <c:pt idx="3">
                  <c:v>Midtown</c:v>
                </c:pt>
                <c:pt idx="4">
                  <c:v>North York</c:v>
                </c:pt>
                <c:pt idx="5">
                  <c:v>Scarborough</c:v>
                </c:pt>
                <c:pt idx="6">
                  <c:v>West End</c:v>
                </c:pt>
                <c:pt idx="7">
                  <c:v>Downtown Core</c:v>
                </c:pt>
                <c:pt idx="8">
                  <c:v>East End</c:v>
                </c:pt>
                <c:pt idx="9">
                  <c:v>Etobicoke</c:v>
                </c:pt>
                <c:pt idx="10">
                  <c:v>Midtown</c:v>
                </c:pt>
                <c:pt idx="11">
                  <c:v>North York</c:v>
                </c:pt>
                <c:pt idx="12">
                  <c:v>Scarborough</c:v>
                </c:pt>
                <c:pt idx="13">
                  <c:v>West End</c:v>
                </c:pt>
                <c:pt idx="14">
                  <c:v>Downtown Core</c:v>
                </c:pt>
                <c:pt idx="15">
                  <c:v>North York</c:v>
                </c:pt>
                <c:pt idx="16">
                  <c:v>Scarborough</c:v>
                </c:pt>
              </c:strCache>
            </c:strRef>
          </c:cat>
          <c:val>
            <c:numRef>
              <c:f>rental_scopeXneighbourhood!$G$2:$G$18</c:f>
              <c:numCache>
                <c:formatCode>0</c:formatCode>
                <c:ptCount val="17"/>
                <c:pt idx="0">
                  <c:v>144.49</c:v>
                </c:pt>
                <c:pt idx="1">
                  <c:v>130.99</c:v>
                </c:pt>
                <c:pt idx="2">
                  <c:v>121.84</c:v>
                </c:pt>
                <c:pt idx="3">
                  <c:v>126.11</c:v>
                </c:pt>
                <c:pt idx="4">
                  <c:v>118.64</c:v>
                </c:pt>
                <c:pt idx="5">
                  <c:v>126.88</c:v>
                </c:pt>
                <c:pt idx="6">
                  <c:v>128.22</c:v>
                </c:pt>
                <c:pt idx="7">
                  <c:v>151.66</c:v>
                </c:pt>
                <c:pt idx="8">
                  <c:v>120.1</c:v>
                </c:pt>
                <c:pt idx="9">
                  <c:v>138.1</c:v>
                </c:pt>
                <c:pt idx="10">
                  <c:v>124.4</c:v>
                </c:pt>
                <c:pt idx="11">
                  <c:v>107.48</c:v>
                </c:pt>
                <c:pt idx="12">
                  <c:v>130.16</c:v>
                </c:pt>
                <c:pt idx="13">
                  <c:v>127.14</c:v>
                </c:pt>
                <c:pt idx="14">
                  <c:v>101</c:v>
                </c:pt>
                <c:pt idx="15">
                  <c:v>41.33</c:v>
                </c:pt>
                <c:pt idx="16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2-4E5A-96E5-010FA23F0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5985120"/>
        <c:axId val="1255982720"/>
      </c:lineChart>
      <c:catAx>
        <c:axId val="122517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174400"/>
        <c:crosses val="autoZero"/>
        <c:auto val="1"/>
        <c:lblAlgn val="ctr"/>
        <c:lblOffset val="100"/>
        <c:noMultiLvlLbl val="0"/>
      </c:catAx>
      <c:valAx>
        <c:axId val="122517440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173440"/>
        <c:crosses val="autoZero"/>
        <c:crossBetween val="between"/>
      </c:valAx>
      <c:valAx>
        <c:axId val="1255982720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85120"/>
        <c:crosses val="max"/>
        <c:crossBetween val="between"/>
      </c:valAx>
      <c:catAx>
        <c:axId val="12559851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59827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Property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rental_scopeXproperty_type!$E$1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rental_scopeXproperty_type!$A$2:$B$6</c:f>
              <c:multiLvlStrCache>
                <c:ptCount val="5"/>
                <c:lvl>
                  <c:pt idx="0">
                    <c:v>Villa</c:v>
                  </c:pt>
                  <c:pt idx="1">
                    <c:v>Other</c:v>
                  </c:pt>
                  <c:pt idx="2">
                    <c:v>Apartment</c:v>
                  </c:pt>
                  <c:pt idx="3">
                    <c:v>House</c:v>
                  </c:pt>
                  <c:pt idx="4">
                    <c:v>Hotel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rental_scopeXproperty_type!$E$2:$E$6</c:f>
              <c:numCache>
                <c:formatCode>_-"$"* #,##0_-;\-"$"* #,##0_-;_-"$"* "-"??_-;_-@_-</c:formatCode>
                <c:ptCount val="5"/>
                <c:pt idx="0">
                  <c:v>99469.8</c:v>
                </c:pt>
                <c:pt idx="1">
                  <c:v>73755</c:v>
                </c:pt>
                <c:pt idx="2">
                  <c:v>30610.7</c:v>
                </c:pt>
                <c:pt idx="3">
                  <c:v>27461.3</c:v>
                </c:pt>
                <c:pt idx="4">
                  <c:v>27314.2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15-42CB-9A0A-D00FAFBDC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972944"/>
        <c:axId val="144964304"/>
      </c:barChart>
      <c:lineChart>
        <c:grouping val="standard"/>
        <c:varyColors val="0"/>
        <c:ser>
          <c:idx val="1"/>
          <c:order val="1"/>
          <c:tx>
            <c:strRef>
              <c:f>rental_scopeXproperty_type!$G$1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315-42CB-9A0A-D00FAFBDCDA6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15-42CB-9A0A-D00FAFBDCD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rental_scopeXproperty_type!$A$2:$B$6</c:f>
              <c:multiLvlStrCache>
                <c:ptCount val="5"/>
                <c:lvl>
                  <c:pt idx="0">
                    <c:v>Villa</c:v>
                  </c:pt>
                  <c:pt idx="1">
                    <c:v>Other</c:v>
                  </c:pt>
                  <c:pt idx="2">
                    <c:v>Apartment</c:v>
                  </c:pt>
                  <c:pt idx="3">
                    <c:v>House</c:v>
                  </c:pt>
                  <c:pt idx="4">
                    <c:v>Hotel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rental_scopeXproperty_type!$G$2:$G$6</c:f>
              <c:numCache>
                <c:formatCode>General</c:formatCode>
                <c:ptCount val="5"/>
                <c:pt idx="0">
                  <c:v>131.80000000000001</c:v>
                </c:pt>
                <c:pt idx="1">
                  <c:v>157.5</c:v>
                </c:pt>
                <c:pt idx="2">
                  <c:v>145.4</c:v>
                </c:pt>
                <c:pt idx="3">
                  <c:v>119.2</c:v>
                </c:pt>
                <c:pt idx="4">
                  <c:v>129.69999999999999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15-42CB-9A0A-D00FAFBDC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968624"/>
        <c:axId val="144968144"/>
      </c:lineChart>
      <c:catAx>
        <c:axId val="14497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64304"/>
        <c:crosses val="autoZero"/>
        <c:auto val="1"/>
        <c:lblAlgn val="ctr"/>
        <c:lblOffset val="100"/>
        <c:noMultiLvlLbl val="0"/>
      </c:catAx>
      <c:valAx>
        <c:axId val="14496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72944"/>
        <c:crosses val="autoZero"/>
        <c:crossBetween val="between"/>
      </c:valAx>
      <c:valAx>
        <c:axId val="14496814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68624"/>
        <c:crosses val="max"/>
        <c:crossBetween val="between"/>
      </c:valAx>
      <c:catAx>
        <c:axId val="1449686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49681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Stay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rental_scopeXstay_duration!$E$1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rental_scopeXstay_duration!$A$2:$B$6</c:f>
              <c:multiLvlStrCache>
                <c:ptCount val="5"/>
                <c:lvl>
                  <c:pt idx="0">
                    <c:v>Lease-style</c:v>
                  </c:pt>
                  <c:pt idx="1">
                    <c:v>Seasonal</c:v>
                  </c:pt>
                  <c:pt idx="2">
                    <c:v>Short-term</c:v>
                  </c:pt>
                  <c:pt idx="3">
                    <c:v>Long-term</c:v>
                  </c:pt>
                  <c:pt idx="4">
                    <c:v>Lease-style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rental_scopeXstay_duration!$E$2:$E$6</c:f>
              <c:numCache>
                <c:formatCode>_-"$"* #,##0_-;\-"$"* #,##0_-;_-"$"* "-"??_-;_-@_-</c:formatCode>
                <c:ptCount val="5"/>
                <c:pt idx="0">
                  <c:v>42368.5</c:v>
                </c:pt>
                <c:pt idx="1">
                  <c:v>33725.9</c:v>
                </c:pt>
                <c:pt idx="2">
                  <c:v>31554.1</c:v>
                </c:pt>
                <c:pt idx="3">
                  <c:v>27354.2</c:v>
                </c:pt>
                <c:pt idx="4">
                  <c:v>17410.900000000001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E3-4B2C-97A7-13D17C3DE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318144"/>
        <c:axId val="31319104"/>
      </c:barChart>
      <c:lineChart>
        <c:grouping val="standard"/>
        <c:varyColors val="0"/>
        <c:ser>
          <c:idx val="1"/>
          <c:order val="1"/>
          <c:tx>
            <c:strRef>
              <c:f>rental_scopeXstay_duration!$G$1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multiLvlStrRef>
              <c:f>rental_scopeXstay_duration!$A$2:$B$6</c:f>
              <c:multiLvlStrCache>
                <c:ptCount val="5"/>
                <c:lvl>
                  <c:pt idx="0">
                    <c:v>Lease-style</c:v>
                  </c:pt>
                  <c:pt idx="1">
                    <c:v>Seasonal</c:v>
                  </c:pt>
                  <c:pt idx="2">
                    <c:v>Short-term</c:v>
                  </c:pt>
                  <c:pt idx="3">
                    <c:v>Long-term</c:v>
                  </c:pt>
                  <c:pt idx="4">
                    <c:v>Lease-style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rental_scopeXstay_duration!$G$2:$G$6</c:f>
              <c:numCache>
                <c:formatCode>0</c:formatCode>
                <c:ptCount val="5"/>
                <c:pt idx="0" formatCode="General">
                  <c:v>255</c:v>
                </c:pt>
                <c:pt idx="1">
                  <c:v>228</c:v>
                </c:pt>
                <c:pt idx="2">
                  <c:v>118.5</c:v>
                </c:pt>
                <c:pt idx="3">
                  <c:v>156</c:v>
                </c:pt>
                <c:pt idx="4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E3-4B2C-97A7-13D17C3DE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23424"/>
        <c:axId val="31320064"/>
      </c:lineChart>
      <c:catAx>
        <c:axId val="3131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19104"/>
        <c:crosses val="autoZero"/>
        <c:auto val="1"/>
        <c:lblAlgn val="ctr"/>
        <c:lblOffset val="100"/>
        <c:noMultiLvlLbl val="0"/>
      </c:catAx>
      <c:valAx>
        <c:axId val="31319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18144"/>
        <c:crosses val="autoZero"/>
        <c:crossBetween val="between"/>
      </c:valAx>
      <c:valAx>
        <c:axId val="3132006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23424"/>
        <c:crosses val="max"/>
        <c:crossBetween val="between"/>
      </c:valAx>
      <c:catAx>
        <c:axId val="31323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320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Guest Capacity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'rental_scope X guest_capacity'!$E$1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88-49DC-AEA8-671B2FC475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'rental_scope X guest_capacity'!$A$2:$B$10</c:f>
              <c:multiLvlStrCache>
                <c:ptCount val="9"/>
                <c:lvl>
                  <c:pt idx="0">
                    <c:v>Group</c:v>
                  </c:pt>
                  <c:pt idx="1">
                    <c:v>Large</c:v>
                  </c:pt>
                  <c:pt idx="2">
                    <c:v>Group</c:v>
                  </c:pt>
                  <c:pt idx="3">
                    <c:v>Medium</c:v>
                  </c:pt>
                  <c:pt idx="4">
                    <c:v>Large</c:v>
                  </c:pt>
                  <c:pt idx="5">
                    <c:v>Small</c:v>
                  </c:pt>
                  <c:pt idx="6">
                    <c:v>Medium</c:v>
                  </c:pt>
                  <c:pt idx="7">
                    <c:v>Small</c:v>
                  </c:pt>
                  <c:pt idx="8">
                    <c:v>Small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Private room</c:v>
                  </c:pt>
                  <c:pt idx="3">
                    <c:v>Entire</c:v>
                  </c:pt>
                  <c:pt idx="4">
                    <c:v>Private room</c:v>
                  </c:pt>
                  <c:pt idx="5">
                    <c:v>Entire</c:v>
                  </c:pt>
                  <c:pt idx="6">
                    <c:v>Private room</c:v>
                  </c:pt>
                  <c:pt idx="7">
                    <c:v>Private room</c:v>
                  </c:pt>
                  <c:pt idx="8">
                    <c:v>Shared room</c:v>
                  </c:pt>
                </c:lvl>
              </c:multiLvlStrCache>
            </c:multiLvlStrRef>
          </c:cat>
          <c:val>
            <c:numRef>
              <c:f>'rental_scope X guest_capacity'!$E$2:$E$10</c:f>
              <c:numCache>
                <c:formatCode>_("$"* #,##0.00_);_("$"* \(#,##0.00\);_("$"* "-"??_);_(@_)</c:formatCode>
                <c:ptCount val="9"/>
                <c:pt idx="0">
                  <c:v>56860.7</c:v>
                </c:pt>
                <c:pt idx="1">
                  <c:v>37248.9</c:v>
                </c:pt>
                <c:pt idx="2">
                  <c:v>30365.3</c:v>
                </c:pt>
                <c:pt idx="3">
                  <c:v>27572</c:v>
                </c:pt>
                <c:pt idx="4">
                  <c:v>22362.1</c:v>
                </c:pt>
                <c:pt idx="5">
                  <c:v>21475.599999999999</c:v>
                </c:pt>
                <c:pt idx="6">
                  <c:v>15940.2</c:v>
                </c:pt>
                <c:pt idx="7">
                  <c:v>10320.1</c:v>
                </c:pt>
                <c:pt idx="8">
                  <c:v>5053.2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88-49DC-AEA8-671B2FC47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5073327"/>
        <c:axId val="695073807"/>
      </c:barChart>
      <c:lineChart>
        <c:grouping val="standard"/>
        <c:varyColors val="0"/>
        <c:ser>
          <c:idx val="1"/>
          <c:order val="1"/>
          <c:tx>
            <c:strRef>
              <c:f>'rental_scope X guest_capacity'!$G$1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88-49DC-AEA8-671B2FC475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'rental_scope X guest_capacity'!$A$2:$B$10</c:f>
              <c:multiLvlStrCache>
                <c:ptCount val="9"/>
                <c:lvl>
                  <c:pt idx="0">
                    <c:v>Group</c:v>
                  </c:pt>
                  <c:pt idx="1">
                    <c:v>Large</c:v>
                  </c:pt>
                  <c:pt idx="2">
                    <c:v>Group</c:v>
                  </c:pt>
                  <c:pt idx="3">
                    <c:v>Medium</c:v>
                  </c:pt>
                  <c:pt idx="4">
                    <c:v>Large</c:v>
                  </c:pt>
                  <c:pt idx="5">
                    <c:v>Small</c:v>
                  </c:pt>
                  <c:pt idx="6">
                    <c:v>Medium</c:v>
                  </c:pt>
                  <c:pt idx="7">
                    <c:v>Small</c:v>
                  </c:pt>
                  <c:pt idx="8">
                    <c:v>Small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Private room</c:v>
                  </c:pt>
                  <c:pt idx="3">
                    <c:v>Entire</c:v>
                  </c:pt>
                  <c:pt idx="4">
                    <c:v>Private room</c:v>
                  </c:pt>
                  <c:pt idx="5">
                    <c:v>Entire</c:v>
                  </c:pt>
                  <c:pt idx="6">
                    <c:v>Private room</c:v>
                  </c:pt>
                  <c:pt idx="7">
                    <c:v>Private room</c:v>
                  </c:pt>
                  <c:pt idx="8">
                    <c:v>Shared room</c:v>
                  </c:pt>
                </c:lvl>
              </c:multiLvlStrCache>
            </c:multiLvlStrRef>
          </c:cat>
          <c:val>
            <c:numRef>
              <c:f>'rental_scope X guest_capacity'!$G$2:$G$10</c:f>
              <c:numCache>
                <c:formatCode>0</c:formatCode>
                <c:ptCount val="9"/>
                <c:pt idx="0">
                  <c:v>122</c:v>
                </c:pt>
                <c:pt idx="1">
                  <c:v>131.6</c:v>
                </c:pt>
                <c:pt idx="2">
                  <c:v>111.7</c:v>
                </c:pt>
                <c:pt idx="3">
                  <c:v>139.1</c:v>
                </c:pt>
                <c:pt idx="4">
                  <c:v>141.6</c:v>
                </c:pt>
                <c:pt idx="5">
                  <c:v>143.4</c:v>
                </c:pt>
                <c:pt idx="6">
                  <c:v>139.80000000000001</c:v>
                </c:pt>
                <c:pt idx="7">
                  <c:v>131.80000000000001</c:v>
                </c:pt>
                <c:pt idx="8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888-49DC-AEA8-671B2FC47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7534511"/>
        <c:axId val="397535951"/>
      </c:lineChart>
      <c:catAx>
        <c:axId val="69507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073807"/>
        <c:crosses val="autoZero"/>
        <c:auto val="1"/>
        <c:lblAlgn val="ctr"/>
        <c:lblOffset val="100"/>
        <c:noMultiLvlLbl val="0"/>
      </c:catAx>
      <c:valAx>
        <c:axId val="69507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073327"/>
        <c:crosses val="autoZero"/>
        <c:crossBetween val="between"/>
      </c:valAx>
      <c:valAx>
        <c:axId val="397535951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534511"/>
        <c:crosses val="max"/>
        <c:crossBetween val="between"/>
      </c:valAx>
      <c:catAx>
        <c:axId val="3975345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75359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sz="2000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Segment Intersections: Scope × Capacity × Duration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'scope X capacity X duration'!$F$1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'scope X capacity X duration'!$A$2:$C$6</c:f>
              <c:multiLvlStrCache>
                <c:ptCount val="5"/>
                <c:lvl>
                  <c:pt idx="0">
                    <c:v>Long-term</c:v>
                  </c:pt>
                  <c:pt idx="1">
                    <c:v>Short-term</c:v>
                  </c:pt>
                  <c:pt idx="2">
                    <c:v>Lease-style</c:v>
                  </c:pt>
                  <c:pt idx="3">
                    <c:v>Lease-style</c:v>
                  </c:pt>
                  <c:pt idx="4">
                    <c:v>Seasonal</c:v>
                  </c:pt>
                </c:lvl>
                <c:lvl>
                  <c:pt idx="0">
                    <c:v>Group</c:v>
                  </c:pt>
                  <c:pt idx="1">
                    <c:v>Group</c:v>
                  </c:pt>
                  <c:pt idx="2">
                    <c:v>Large</c:v>
                  </c:pt>
                  <c:pt idx="3">
                    <c:v>Medium</c:v>
                  </c:pt>
                  <c:pt idx="4">
                    <c:v>Group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Entire</c:v>
                  </c:pt>
                </c:lvl>
              </c:multiLvlStrCache>
            </c:multiLvlStrRef>
          </c:cat>
          <c:val>
            <c:numRef>
              <c:f>'scope X capacity X duration'!$F$2:$F$6</c:f>
              <c:numCache>
                <c:formatCode>_-"$"* #,##0_-;\-"$"* #,##0_-;_-"$"* "-"??_-;_-@_-</c:formatCode>
                <c:ptCount val="5"/>
                <c:pt idx="0">
                  <c:v>61526.9</c:v>
                </c:pt>
                <c:pt idx="1">
                  <c:v>55267.5</c:v>
                </c:pt>
                <c:pt idx="2">
                  <c:v>47138.6</c:v>
                </c:pt>
                <c:pt idx="3">
                  <c:v>43356.4</c:v>
                </c:pt>
                <c:pt idx="4">
                  <c:v>42713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9-4565-BBFD-CC0C7D955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8381823"/>
        <c:axId val="1438370303"/>
      </c:barChart>
      <c:lineChart>
        <c:grouping val="standard"/>
        <c:varyColors val="0"/>
        <c:ser>
          <c:idx val="1"/>
          <c:order val="1"/>
          <c:tx>
            <c:strRef>
              <c:f>'scope X capacity X duration'!$H$1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562AAC77-08B4-45CC-BE89-7D0A4EAF32A9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CA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C39-4565-BBFD-CC0C7D9558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73AC66-107D-4835-8382-88E0DC76AE8F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CA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C39-4565-BBFD-CC0C7D9558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'scope X capacity X duration'!$A$2:$C$6</c:f>
              <c:multiLvlStrCache>
                <c:ptCount val="5"/>
                <c:lvl>
                  <c:pt idx="0">
                    <c:v>Long-term</c:v>
                  </c:pt>
                  <c:pt idx="1">
                    <c:v>Short-term</c:v>
                  </c:pt>
                  <c:pt idx="2">
                    <c:v>Lease-style</c:v>
                  </c:pt>
                  <c:pt idx="3">
                    <c:v>Lease-style</c:v>
                  </c:pt>
                  <c:pt idx="4">
                    <c:v>Seasonal</c:v>
                  </c:pt>
                </c:lvl>
                <c:lvl>
                  <c:pt idx="0">
                    <c:v>Group</c:v>
                  </c:pt>
                  <c:pt idx="1">
                    <c:v>Group</c:v>
                  </c:pt>
                  <c:pt idx="2">
                    <c:v>Large</c:v>
                  </c:pt>
                  <c:pt idx="3">
                    <c:v>Medium</c:v>
                  </c:pt>
                  <c:pt idx="4">
                    <c:v>Group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Entire</c:v>
                  </c:pt>
                </c:lvl>
              </c:multiLvlStrCache>
            </c:multiLvlStrRef>
          </c:cat>
          <c:val>
            <c:numRef>
              <c:f>'scope X capacity X duration'!$H$2:$H$6</c:f>
              <c:numCache>
                <c:formatCode>0</c:formatCode>
                <c:ptCount val="5"/>
                <c:pt idx="0">
                  <c:v>168.8</c:v>
                </c:pt>
                <c:pt idx="1">
                  <c:v>105.3</c:v>
                </c:pt>
                <c:pt idx="2">
                  <c:v>255</c:v>
                </c:pt>
                <c:pt idx="3">
                  <c:v>255</c:v>
                </c:pt>
                <c:pt idx="4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39-4565-BBFD-CC0C7D955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8372703"/>
        <c:axId val="1438376543"/>
      </c:lineChart>
      <c:catAx>
        <c:axId val="1438381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70303"/>
        <c:crosses val="autoZero"/>
        <c:auto val="1"/>
        <c:lblAlgn val="ctr"/>
        <c:lblOffset val="100"/>
        <c:noMultiLvlLbl val="0"/>
      </c:catAx>
      <c:valAx>
        <c:axId val="143837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81823"/>
        <c:crosses val="autoZero"/>
        <c:crossBetween val="between"/>
      </c:valAx>
      <c:valAx>
        <c:axId val="1438376543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72703"/>
        <c:crosses val="max"/>
        <c:crossBetween val="between"/>
      </c:valAx>
      <c:catAx>
        <c:axId val="14383727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383765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neighbourhood_group_summary!$A$2:$A$8</cx:f>
        <cx:lvl ptCount="7">
          <cx:pt idx="0">Downtown Core</cx:pt>
          <cx:pt idx="1">North York</cx:pt>
          <cx:pt idx="2">Scarborough</cx:pt>
          <cx:pt idx="3">Etobicoke</cx:pt>
          <cx:pt idx="4">Midtown</cx:pt>
          <cx:pt idx="5">East End</cx:pt>
          <cx:pt idx="6">West End</cx:pt>
        </cx:lvl>
      </cx:strDim>
      <cx:numDim type="size">
        <cx:f>neighbourhood_group_summary!$B$2:$B$8</cx:f>
        <cx:lvl ptCount="7" formatCode="General">
          <cx:pt idx="0">6381</cx:pt>
          <cx:pt idx="1">1506</cx:pt>
          <cx:pt idx="2">934</cx:pt>
          <cx:pt idx="3">879</cx:pt>
          <cx:pt idx="4">621</cx:pt>
          <cx:pt idx="5">597</cx:pt>
          <cx:pt idx="6">259</cx:pt>
        </cx:lvl>
      </cx:numDim>
    </cx:data>
  </cx:chartData>
  <cx:chart>
    <cx:title pos="t" align="ctr" overlay="0">
      <cx:tx>
        <cx:txData>
          <cx:v>Market composition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Market composition</a:t>
          </a:r>
        </a:p>
      </cx:txPr>
    </cx:title>
    <cx:plotArea>
      <cx:plotAreaRegion>
        <cx:series layoutId="treemap" uniqueId="{1822448C-6A00-48E9-A3E4-18F10D6460C1}">
          <cx:tx>
            <cx:txData>
              <cx:f>neighbourhood_group_summary!$B$1</cx:f>
              <cx:v>num_of_listings</cx:v>
            </cx:txData>
          </cx:tx>
          <cx:dataLabels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6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330" b="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cap="all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0.45818</cdr:x>
      <cdr:y>0.14612</cdr:y>
    </cdr:from>
    <cdr:to>
      <cdr:x>0.45818</cdr:x>
      <cdr:y>0.65515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70CC7D31-7F49-CB3E-BA45-9A925DA4CA42}"/>
            </a:ext>
          </a:extLst>
        </cdr:cNvPr>
        <cdr:cNvCxnSpPr/>
      </cdr:nvCxnSpPr>
      <cdr:spPr>
        <a:xfrm xmlns:a="http://schemas.openxmlformats.org/drawingml/2006/main" flipV="1">
          <a:off x="2771920" y="585795"/>
          <a:ext cx="0" cy="204065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ysClr val="windowText" lastClr="00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0.5336</cdr:x>
      <cdr:y>0.40023</cdr:y>
    </cdr:from>
    <cdr:to>
      <cdr:x>0.71751</cdr:x>
      <cdr:y>0.46654</cdr:y>
    </cdr:to>
    <cdr:sp macro="" textlink="">
      <cdr:nvSpPr>
        <cdr:cNvPr id="3" name="Rectangle: Rounded Corners 2">
          <a:extLst xmlns:a="http://schemas.openxmlformats.org/drawingml/2006/main">
            <a:ext uri="{FF2B5EF4-FFF2-40B4-BE49-F238E27FC236}">
              <a16:creationId xmlns:a16="http://schemas.microsoft.com/office/drawing/2014/main" id="{F28580F4-91AE-68DF-13BA-14BE0DB8A773}"/>
            </a:ext>
          </a:extLst>
        </cdr:cNvPr>
        <cdr:cNvSpPr/>
      </cdr:nvSpPr>
      <cdr:spPr>
        <a:xfrm xmlns:a="http://schemas.openxmlformats.org/drawingml/2006/main">
          <a:off x="3228233" y="1604479"/>
          <a:ext cx="1112622" cy="265830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Private rooms</a:t>
          </a:r>
        </a:p>
      </cdr:txBody>
    </cdr:sp>
  </cdr:relSizeAnchor>
  <cdr:relSizeAnchor xmlns:cdr="http://schemas.openxmlformats.org/drawingml/2006/chartDrawing">
    <cdr:from>
      <cdr:x>0.8032</cdr:x>
      <cdr:y>0.16478</cdr:y>
    </cdr:from>
    <cdr:to>
      <cdr:x>0.92263</cdr:x>
      <cdr:y>0.30668</cdr:y>
    </cdr:to>
    <cdr:sp macro="" textlink="">
      <cdr:nvSpPr>
        <cdr:cNvPr id="4" name="Rectangle: Rounded Corners 3">
          <a:extLst xmlns:a="http://schemas.openxmlformats.org/drawingml/2006/main">
            <a:ext uri="{FF2B5EF4-FFF2-40B4-BE49-F238E27FC236}">
              <a16:creationId xmlns:a16="http://schemas.microsoft.com/office/drawing/2014/main" id="{A7A5AABB-A966-B859-950F-1640B80AB719}"/>
            </a:ext>
          </a:extLst>
        </cdr:cNvPr>
        <cdr:cNvSpPr/>
      </cdr:nvSpPr>
      <cdr:spPr>
        <a:xfrm xmlns:a="http://schemas.openxmlformats.org/drawingml/2006/main">
          <a:off x="4859298" y="660592"/>
          <a:ext cx="722527" cy="568862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Shared rooms</a:t>
          </a:r>
        </a:p>
      </cdr:txBody>
    </cdr:sp>
  </cdr:relSizeAnchor>
  <cdr:relSizeAnchor xmlns:cdr="http://schemas.openxmlformats.org/drawingml/2006/chartDrawing">
    <cdr:from>
      <cdr:x>0.78417</cdr:x>
      <cdr:y>0.15155</cdr:y>
    </cdr:from>
    <cdr:to>
      <cdr:x>0.78417</cdr:x>
      <cdr:y>0.65146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9C218A2A-62E5-8F53-8FD8-744F0206F391}"/>
            </a:ext>
          </a:extLst>
        </cdr:cNvPr>
        <cdr:cNvCxnSpPr/>
      </cdr:nvCxnSpPr>
      <cdr:spPr>
        <a:xfrm xmlns:a="http://schemas.openxmlformats.org/drawingml/2006/main" flipV="1">
          <a:off x="4744176" y="607566"/>
          <a:ext cx="0" cy="2004086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ysClr val="windowText" lastClr="00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0.24594</cdr:x>
      <cdr:y>0.15338</cdr:y>
    </cdr:from>
    <cdr:to>
      <cdr:x>0.364</cdr:x>
      <cdr:y>0.2312</cdr:y>
    </cdr:to>
    <cdr:sp macro="" textlink="">
      <cdr:nvSpPr>
        <cdr:cNvPr id="10" name="Rectangle: Rounded Corners 9">
          <a:extLst xmlns:a="http://schemas.openxmlformats.org/drawingml/2006/main">
            <a:ext uri="{FF2B5EF4-FFF2-40B4-BE49-F238E27FC236}">
              <a16:creationId xmlns:a16="http://schemas.microsoft.com/office/drawing/2014/main" id="{31F62AB4-D620-78C5-94BE-E1902DB34755}"/>
            </a:ext>
          </a:extLst>
        </cdr:cNvPr>
        <cdr:cNvSpPr/>
      </cdr:nvSpPr>
      <cdr:spPr>
        <a:xfrm xmlns:a="http://schemas.openxmlformats.org/drawingml/2006/main">
          <a:off x="1487894" y="614866"/>
          <a:ext cx="714253" cy="311972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Entire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78363-0160-4E7D-9120-49AA5FCE86A2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9BE96-C2EF-4E9A-8CF8-61FCCB8631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635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79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Entire</a:t>
            </a:r>
          </a:p>
          <a:p>
            <a:pPr marL="457200" lvl="1" indent="0">
              <a:buNone/>
            </a:pPr>
            <a:r>
              <a:rPr lang="en-CA" dirty="0"/>
              <a:t>- Whole property, full privacy</a:t>
            </a:r>
          </a:p>
          <a:p>
            <a:pPr marL="0" indent="0">
              <a:buNone/>
            </a:pPr>
            <a:r>
              <a:rPr lang="en-CA" dirty="0"/>
              <a:t>2. Private room</a:t>
            </a:r>
          </a:p>
          <a:p>
            <a:pPr lvl="1">
              <a:buFontTx/>
              <a:buChar char="-"/>
            </a:pPr>
            <a:r>
              <a:rPr lang="en-CA" dirty="0"/>
              <a:t>Own bedroom</a:t>
            </a:r>
          </a:p>
          <a:p>
            <a:pPr lvl="1">
              <a:buFontTx/>
              <a:buChar char="-"/>
            </a:pPr>
            <a:r>
              <a:rPr lang="en-CA" dirty="0"/>
              <a:t>Shared common areas</a:t>
            </a:r>
          </a:p>
          <a:p>
            <a:pPr marL="0" indent="0">
              <a:buNone/>
            </a:pPr>
            <a:r>
              <a:rPr lang="en-CA" dirty="0"/>
              <a:t>3. Shared room</a:t>
            </a:r>
          </a:p>
          <a:p>
            <a:pPr lvl="1">
              <a:buFontTx/>
              <a:buChar char="-"/>
            </a:pPr>
            <a:r>
              <a:rPr lang="en-CA" dirty="0"/>
              <a:t>Shared bedroom and common areas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1187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Highlight or bolden, maybe put in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504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51EE-8B69-1293-BC8C-AC915F3B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09675-15AD-A496-F400-2CDA87013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7DCBA-8FBD-29FC-1005-3C0223460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A5BD6-0679-7EA1-4821-B552DCDF9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188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3BA9-7672-369E-CD74-43B345BC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86C80-FD2B-46ED-5E70-14CBF5943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C9DD2-AE79-A1AA-2B2D-13E221390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Short-term (&lt;28 days), classic listings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 (28-89 days), monthly renters (possibly due to regulations)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 (90 -179 days),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Lease-style (180+ days)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04115-07DE-515F-0F3B-ACAF6C710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328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Mid-range capacity is occupancy sweet spot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Arial" panose="020B0604020202020204" pitchFamily="34" charset="0"/>
              </a:rPr>
              <a:t>Small and Medium Entire listings fill consistently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Group Entire listings dominate revenue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Arial" panose="020B0604020202020204" pitchFamily="34" charset="0"/>
              </a:rPr>
              <a:t>Especially in short-term and seasonal formats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88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AC2-53D2-8328-45CA-A359074AF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1B32A-6FD2-1240-3A39-B93EAF61A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0D0B-D8AF-44AE-5B4D-3B1D025C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8B574-C0B7-5B02-A8E8-AE83C68A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49C4-D120-FE41-9A3B-FF1D258A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001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40C8-80E9-7B40-ABD1-268792CE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996D9-BA78-CAC7-DF2E-C081EB06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74FE-B4D6-1F94-10B8-D174ED2E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7DE00-9F6F-A313-0C90-6489C2259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C082C-A392-C96F-96D6-DE1E47DE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E762-072E-B1FE-5E9E-DA3114A3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4EC4-51E0-570C-49C4-B5069FF32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1ADE2-7B20-99DC-6D27-FED5D5B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14C5-6AE3-1CB3-3EA5-A2A9A284D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CF12-186E-2745-FFBC-F8D12643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572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70E8-398C-86DA-E163-AF31E0A7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8753C-F714-98A9-FC37-478C56E70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561D7-809D-0A8E-96FE-B442B170F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4F01F-01DF-AB1C-2809-79016217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FF6BE-0506-8BFE-AD88-48BFC60E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4B124-65B9-F85C-8B6F-5C1C6E56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30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758D-AA54-A3BD-8136-6F6CD3C6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0E107-09C1-07E7-7FB7-CC272B826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A1E9-079E-A8C0-6E39-82E9C54B5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F4D5-2F08-81CF-0AA2-F9F2FF4D2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2346B-D0C0-9DAD-27B0-9FD1467A2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6F9C1-0CE7-3D5D-D885-507ED83F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437CC-143A-6416-131A-3C91B974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B888B-6654-9F47-36B7-5D59FE81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34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9A26-877E-4774-98A3-43D596A0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01C97-2BE3-EB1E-3EE4-435BB672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3D670-C120-D033-8626-0556659A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71A81-A41B-7F52-8D18-657912D6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73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17321-8FD8-6559-2FD0-D81C4ED4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0C836-AEA7-7206-12EC-E3AF4ABD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4507B-88E2-AFD0-1A33-A9EC77D2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85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0A07-8BCB-DDAA-4B62-6CDA01A4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18E0A-6D99-FB47-2FA6-943CB981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4FC3F-6C20-B93B-3532-B07D3208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CC7C8-B642-D247-F5ED-AF5FEDA4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D0AB1-7881-779B-96B9-BF27FFFD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F45E9-24DF-F8D7-5FC7-64534B72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34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0D1F-E320-F05E-B468-B735DC47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F0BC1-65BC-7A68-9AB3-36FD4F917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905F-9E56-7514-241A-7310AA209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4C848-D712-DF22-ADA7-C8A69EDD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B4528-CB85-8743-51A1-3AA7CEB2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0587A-90AF-8999-F1DA-9AFAC61E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351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81E7-9C2F-0386-3D90-A851D570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DE2C5-207A-DCDD-0B62-531E6345E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3488-83DC-4C2C-98A8-38B189CE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8F17-F212-39AC-8CB1-8C1E21FC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318E-2DC1-13F9-3E40-AC83D58B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0600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EA9B4-D32D-EA2E-8229-FC50503A3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47F6-3F56-4EF2-D173-CCD726426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3638-A069-F4F1-7576-E6811FAB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8F0B-D996-459E-D0B8-425989E1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435E7-D70B-593E-3724-D387BD24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64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F2263-5745-8368-AF91-98B5882A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64B6-7608-8A7C-6799-A0DA2E34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75DC-9790-C01E-98E9-A8534FFA3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85D45-B3CA-4FE6-AC3D-8B8122AC38FC}" type="datetimeFigureOut">
              <a:rPr lang="en-CA" smtClean="0"/>
              <a:t>2025-12-18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D834-4756-6028-79A0-C770453A5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5F5D-BDF8-A264-0DB0-DB532A909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731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hart" Target="../charts/chart1.xm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8C5B-2848-1909-C86A-2DF5859BDA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Airbnb Toronto: </a:t>
            </a:r>
            <a:br>
              <a:rPr lang="en-CA" dirty="0"/>
            </a:br>
            <a:r>
              <a:rPr lang="en-CA" dirty="0"/>
              <a:t>Performance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6431A-8638-88DF-FE93-D07659FC8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Period: July 2024 – July 2025 </a:t>
            </a:r>
          </a:p>
          <a:p>
            <a:endParaRPr lang="en-CA" dirty="0"/>
          </a:p>
          <a:p>
            <a:r>
              <a:rPr lang="en-CA" dirty="0"/>
              <a:t>By Yosias Teshome</a:t>
            </a:r>
          </a:p>
          <a:p>
            <a:r>
              <a:rPr lang="en-CA" dirty="0">
                <a:solidFill>
                  <a:srgbClr val="FF0000"/>
                </a:solidFill>
              </a:rPr>
              <a:t>Date</a:t>
            </a:r>
          </a:p>
          <a:p>
            <a:r>
              <a:rPr lang="en-CA" dirty="0"/>
              <a:t>Strategy Insights</a:t>
            </a:r>
          </a:p>
        </p:txBody>
      </p:sp>
    </p:spTree>
    <p:extLst>
      <p:ext uri="{BB962C8B-B14F-4D97-AF65-F5344CB8AC3E}">
        <p14:creationId xmlns:p14="http://schemas.microsoft.com/office/powerpoint/2010/main" val="137404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724E3-E492-FA82-4D43-8215B3C4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3295D-8F8F-8EA3-995D-3944C4C7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3700" dirty="0"/>
              <a:t>Objective</a:t>
            </a:r>
            <a:br>
              <a:rPr lang="en-CA" sz="3700" dirty="0"/>
            </a:br>
            <a:r>
              <a:rPr lang="en-CA" sz="2000" dirty="0"/>
              <a:t>Framing the performance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0E29-BCF3-6902-9DC2-99DB918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32616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Analyze how: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🏠 </a:t>
            </a:r>
            <a:r>
              <a:rPr lang="en-US" sz="2000" u="sng" dirty="0"/>
              <a:t>Rental scope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📍 </a:t>
            </a:r>
            <a:r>
              <a:rPr lang="en-US" sz="2000" u="sng" dirty="0"/>
              <a:t>Location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🏢 </a:t>
            </a:r>
            <a:r>
              <a:rPr lang="en-CA" sz="2000" u="sng" dirty="0"/>
              <a:t>Property type </a:t>
            </a:r>
            <a:endParaRPr lang="en-US" sz="2000" u="sng" dirty="0"/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⏱️ </a:t>
            </a:r>
            <a:r>
              <a:rPr lang="en-US" sz="2000" u="sng" dirty="0"/>
              <a:t>Stay duration</a:t>
            </a:r>
            <a:r>
              <a:rPr lang="en-US" sz="2000" dirty="0"/>
              <a:t> and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👥 </a:t>
            </a:r>
            <a:r>
              <a:rPr lang="en-US" sz="2000" u="sng" dirty="0"/>
              <a:t>Guest capacity</a:t>
            </a:r>
          </a:p>
          <a:p>
            <a:pPr marL="0" indent="0">
              <a:buNone/>
            </a:pPr>
            <a:r>
              <a:rPr lang="en-US" sz="2000" dirty="0"/>
              <a:t>shape Airbnb performance across Toronto.</a:t>
            </a:r>
          </a:p>
          <a:p>
            <a:endParaRPr lang="en-CA" sz="2000" dirty="0"/>
          </a:p>
        </p:txBody>
      </p:sp>
      <p:pic>
        <p:nvPicPr>
          <p:cNvPr id="4" name="Picture 3" descr="Locator flag on a city map">
            <a:extLst>
              <a:ext uri="{FF2B5EF4-FFF2-40B4-BE49-F238E27FC236}">
                <a16:creationId xmlns:a16="http://schemas.microsoft.com/office/drawing/2014/main" id="{469628FA-0A70-F561-BFBA-8276C51E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2" r="4541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2FE0-84AB-4B02-75BF-9089946C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Market Statistics</a:t>
            </a:r>
            <a:br>
              <a:rPr lang="en-CA" dirty="0"/>
            </a:br>
            <a:r>
              <a:rPr lang="en-US" sz="2200" dirty="0"/>
              <a:t>Snapshot of supply, scope, and performance drivers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3F57-7AF6-3525-6CDA-3BAC5B01D8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Active listings: 11,177</a:t>
            </a:r>
          </a:p>
          <a:p>
            <a:endParaRPr lang="en-CA" dirty="0"/>
          </a:p>
          <a:p>
            <a:r>
              <a:rPr lang="en-CA" dirty="0"/>
              <a:t>Top-performing scope: Entire</a:t>
            </a:r>
          </a:p>
          <a:p>
            <a:endParaRPr lang="en-CA" dirty="0"/>
          </a:p>
          <a:p>
            <a:r>
              <a:rPr lang="en-CA" dirty="0"/>
              <a:t>Average Revenue: $24,036</a:t>
            </a:r>
          </a:p>
          <a:p>
            <a:endParaRPr lang="en-CA" dirty="0"/>
          </a:p>
          <a:p>
            <a:r>
              <a:rPr lang="en-CA" dirty="0"/>
              <a:t>Average Occupancy: 136 days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DA727E-8C5D-4A51-C057-439E3E2D26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Top-performing location: Downtown Core</a:t>
            </a:r>
          </a:p>
          <a:p>
            <a:endParaRPr lang="en-CA" dirty="0"/>
          </a:p>
          <a:p>
            <a:pPr marL="0" indent="0">
              <a:buNone/>
            </a:pPr>
            <a:r>
              <a:rPr lang="en-US" dirty="0"/>
              <a:t>Downtown Entire listings lead revenue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396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2C53-9BB4-1766-EE8B-39403EE1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Market Composition</a:t>
            </a:r>
            <a:br>
              <a:rPr lang="en-CA" dirty="0"/>
            </a:br>
            <a:r>
              <a:rPr lang="en-US" sz="2200" dirty="0"/>
              <a:t>Where listings are concentrated</a:t>
            </a:r>
            <a:endParaRPr lang="en-CA" sz="2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E15C65-9D6D-4518-7A01-5BEC98C4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Downtown Core dominates supply and performance</a:t>
            </a:r>
          </a:p>
          <a:p>
            <a:pPr marL="0" indent="0">
              <a:buNone/>
            </a:pPr>
            <a:r>
              <a:rPr lang="en-CA" dirty="0"/>
              <a:t>   Listings: 6381 (57.1%)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North York is 2</a:t>
            </a:r>
            <a:r>
              <a:rPr lang="en-CA" baseline="30000" dirty="0"/>
              <a:t>nd</a:t>
            </a:r>
            <a:r>
              <a:rPr lang="en-CA" dirty="0"/>
              <a:t> in Supply</a:t>
            </a:r>
          </a:p>
          <a:p>
            <a:pPr marL="0" indent="0">
              <a:buNone/>
            </a:pPr>
            <a:r>
              <a:rPr lang="en-CA" dirty="0"/>
              <a:t>   Listings: 1506 (13.5%)</a:t>
            </a:r>
          </a:p>
          <a:p>
            <a:endParaRPr lang="en-CA" dirty="0"/>
          </a:p>
          <a:p>
            <a:r>
              <a:rPr lang="en-CA" dirty="0"/>
              <a:t>Scarborough and Etobicoke</a:t>
            </a:r>
          </a:p>
          <a:p>
            <a:pPr marL="0" indent="0">
              <a:buNone/>
            </a:pPr>
            <a:r>
              <a:rPr lang="en-CA" dirty="0"/>
              <a:t>have just under 1000 listings.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C448A49F-287C-44FA-AC5D-BB04796FA2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41060416"/>
                  </p:ext>
                </p:extLst>
              </p:nvPr>
            </p:nvGraphicFramePr>
            <p:xfrm>
              <a:off x="5725886" y="2296885"/>
              <a:ext cx="5921829" cy="419599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C448A49F-287C-44FA-AC5D-BB04796FA2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25886" y="2296885"/>
                <a:ext cx="5921829" cy="41959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12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A827-0675-B653-8B93-A2F4F70E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1CB5-E528-899B-5BD1-05D69994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Rental Scope</a:t>
            </a:r>
            <a:br>
              <a:rPr lang="en-CA" dirty="0"/>
            </a:br>
            <a:r>
              <a:rPr lang="en-CA" sz="1200" dirty="0"/>
              <a:t> </a:t>
            </a:r>
            <a:r>
              <a:rPr lang="en-CA" sz="2000" dirty="0"/>
              <a:t>Performance by listing type (Entire, Private, Shared)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4BCDC-B355-4494-BBBF-7AB5BC12E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Entire rentals dominate revenue across all segments</a:t>
            </a:r>
          </a:p>
          <a:p>
            <a:r>
              <a:rPr lang="en-CA" dirty="0"/>
              <a:t>Private rooms show strong occupancy, especially in budget-friendly areas</a:t>
            </a:r>
          </a:p>
          <a:p>
            <a:endParaRPr lang="en-CA" dirty="0"/>
          </a:p>
          <a:p>
            <a:r>
              <a:rPr lang="en-US" dirty="0"/>
              <a:t>Shared rooms: niche</a:t>
            </a:r>
          </a:p>
          <a:p>
            <a:pPr lvl="1"/>
            <a:r>
              <a:rPr lang="en-US" dirty="0"/>
              <a:t>16 listings, ~$5K/year </a:t>
            </a:r>
          </a:p>
          <a:p>
            <a:pPr lvl="1"/>
            <a:r>
              <a:rPr lang="en-US" dirty="0"/>
              <a:t>87 days occupancy</a:t>
            </a:r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F6B5F1-4549-E2CB-7E8A-9F0A4CE0AA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516339"/>
              </p:ext>
            </p:extLst>
          </p:nvPr>
        </p:nvGraphicFramePr>
        <p:xfrm>
          <a:off x="5176384" y="2771454"/>
          <a:ext cx="6368144" cy="397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Graphic 5" descr="Home with solid fill">
            <a:extLst>
              <a:ext uri="{FF2B5EF4-FFF2-40B4-BE49-F238E27FC236}">
                <a16:creationId xmlns:a16="http://schemas.microsoft.com/office/drawing/2014/main" id="{50F63BFC-3674-572B-DB96-77BFDA598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8556" y="3129643"/>
            <a:ext cx="598714" cy="598714"/>
          </a:xfrm>
          <a:prstGeom prst="rect">
            <a:avLst/>
          </a:prstGeom>
        </p:spPr>
      </p:pic>
      <p:pic>
        <p:nvPicPr>
          <p:cNvPr id="8" name="Graphic 7" descr="Door Closed with solid fill">
            <a:extLst>
              <a:ext uri="{FF2B5EF4-FFF2-40B4-BE49-F238E27FC236}">
                <a16:creationId xmlns:a16="http://schemas.microsoft.com/office/drawing/2014/main" id="{229A4A54-B43F-0596-E345-7F46F6B9C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7181" y="4464408"/>
            <a:ext cx="587376" cy="587376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53FEAF54-EA1E-0600-8A02-5FCF2835E1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69585" y="4941295"/>
            <a:ext cx="729342" cy="7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7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32DE-505B-453B-FD83-380141F3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Neighbourhoods</a:t>
            </a:r>
            <a:br>
              <a:rPr lang="en-CA" dirty="0"/>
            </a:br>
            <a:r>
              <a:rPr lang="en-US" sz="2200" dirty="0"/>
              <a:t>Downtown leads in both revenue and occupancy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B892-BBB2-C868-907D-8AF07653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7289"/>
          </a:xfrm>
        </p:spPr>
        <p:txBody>
          <a:bodyPr/>
          <a:lstStyle/>
          <a:p>
            <a:r>
              <a:rPr lang="en-CA" dirty="0"/>
              <a:t>Downtown Core dominates across all scopes</a:t>
            </a:r>
          </a:p>
          <a:p>
            <a:pPr lvl="1"/>
            <a:r>
              <a:rPr lang="en-CA" dirty="0"/>
              <a:t>Entire properties earn most ($33,682)</a:t>
            </a:r>
          </a:p>
          <a:p>
            <a:pPr lvl="1"/>
            <a:r>
              <a:rPr lang="en-CA" dirty="0"/>
              <a:t>Private rooms show highest occupancy</a:t>
            </a:r>
          </a:p>
          <a:p>
            <a:pPr marL="457200" lvl="1" indent="0">
              <a:buNone/>
            </a:pPr>
            <a:r>
              <a:rPr lang="en-CA" dirty="0"/>
              <a:t>  (152 days)</a:t>
            </a:r>
          </a:p>
          <a:p>
            <a:pPr marL="457200" lvl="1" indent="0">
              <a:buNone/>
            </a:pPr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FB9035-EB86-B9E3-A29C-294794A2E8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295531"/>
              </p:ext>
            </p:extLst>
          </p:nvPr>
        </p:nvGraphicFramePr>
        <p:xfrm>
          <a:off x="5946144" y="2658148"/>
          <a:ext cx="6049912" cy="4008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C6FAF4-AC3F-CA7B-4C76-3FDD95F4FC87}"/>
              </a:ext>
            </a:extLst>
          </p:cNvPr>
          <p:cNvSpPr txBox="1">
            <a:spLocks/>
          </p:cNvSpPr>
          <p:nvPr/>
        </p:nvSpPr>
        <p:spPr>
          <a:xfrm>
            <a:off x="838199" y="3857851"/>
            <a:ext cx="5107945" cy="2325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u="sng" dirty="0"/>
              <a:t>Dividing a property into multiple private room listings can outperform a single entire rental in some cases.</a:t>
            </a:r>
            <a:endParaRPr lang="en-CA" u="sng" dirty="0"/>
          </a:p>
        </p:txBody>
      </p:sp>
    </p:spTree>
    <p:extLst>
      <p:ext uri="{BB962C8B-B14F-4D97-AF65-F5344CB8AC3E}">
        <p14:creationId xmlns:p14="http://schemas.microsoft.com/office/powerpoint/2010/main" val="318073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4F44-227C-997B-0FDD-57726001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A4268-D39D-A9E5-C7FA-C12F35D6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CA" dirty="0"/>
              <a:t>Property Type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923B-36F3-B3D0-74A5-D2F2E292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5089595" cy="3917773"/>
          </a:xfrm>
        </p:spPr>
        <p:txBody>
          <a:bodyPr>
            <a:normAutofit/>
          </a:bodyPr>
          <a:lstStyle/>
          <a:p>
            <a:r>
              <a:rPr lang="en-US" sz="2100" dirty="0"/>
              <a:t>Villas and niche property types skew revenue high</a:t>
            </a:r>
          </a:p>
          <a:p>
            <a:pPr lvl="1"/>
            <a:r>
              <a:rPr lang="en-US" sz="2100" dirty="0"/>
              <a:t>But make up &lt;1% of listings</a:t>
            </a:r>
          </a:p>
          <a:p>
            <a:pPr lvl="1"/>
            <a:endParaRPr lang="en-US" sz="21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Entire apartments offer best balance of revenue and occupancy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49% of listings, strong occupancy</a:t>
            </a:r>
          </a:p>
          <a:p>
            <a:endParaRPr lang="en-CA" sz="21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Entire houses underperform despite large share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20% of listings, lowest demand</a:t>
            </a:r>
          </a:p>
          <a:p>
            <a:endParaRPr lang="en-CA" sz="20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0CA64B3-CCD1-B64F-D462-031287D9B2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213225"/>
              </p:ext>
            </p:extLst>
          </p:nvPr>
        </p:nvGraphicFramePr>
        <p:xfrm>
          <a:off x="6096001" y="1632857"/>
          <a:ext cx="5411872" cy="4307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46419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9ADC-9BE9-1DDE-7FB8-D29B3158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7435-2890-357F-1C34-7968509B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Stay Durations</a:t>
            </a:r>
            <a:br>
              <a:rPr lang="en-CA" dirty="0"/>
            </a:br>
            <a:r>
              <a:rPr lang="en-CA" sz="2000" dirty="0"/>
              <a:t>Short-term, Long-term, Seasonal and Lease-style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5DAB-5415-9AC8-7E49-399409340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33661"/>
          </a:xfrm>
        </p:spPr>
        <p:txBody>
          <a:bodyPr/>
          <a:lstStyle/>
          <a:p>
            <a:r>
              <a:rPr lang="en-CA" dirty="0"/>
              <a:t>Lease-style &amp; seasonal lead in occupancy due to longer stays and consistent demand</a:t>
            </a:r>
          </a:p>
          <a:p>
            <a:r>
              <a:rPr lang="en-US" dirty="0"/>
              <a:t>Short-term is revenue competitive despite lower occupancy, driven by higher nightly rates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Longer stays drive occupancy;                                                               short-term stays rely on pricing                                                             power</a:t>
            </a:r>
            <a:endParaRPr lang="en-C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510A0C-FBDE-7408-5E26-6813B0752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7457"/>
              </p:ext>
            </p:extLst>
          </p:nvPr>
        </p:nvGraphicFramePr>
        <p:xfrm>
          <a:off x="5910943" y="3064782"/>
          <a:ext cx="5878286" cy="3793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565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1539-2B76-5880-4B1F-F7E6C5B6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Guest Capacity</a:t>
            </a:r>
            <a:br>
              <a:rPr lang="en-CA" dirty="0"/>
            </a:br>
            <a:r>
              <a:rPr lang="en-US" sz="2200" dirty="0"/>
              <a:t>Performance by guest capacity and rental scope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3460-CE48-C721-2E96-3862696F9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Group-sized Entire listings earn the most</a:t>
            </a:r>
          </a:p>
          <a:p>
            <a:pPr lvl="1"/>
            <a:r>
              <a:rPr lang="en-US" dirty="0"/>
              <a:t>Driven by higher nightly rates and multi-guest bookings</a:t>
            </a:r>
          </a:p>
          <a:p>
            <a:r>
              <a:rPr lang="en-US" dirty="0"/>
              <a:t>Private rooms perform steadily in Small and Medium categories</a:t>
            </a:r>
          </a:p>
          <a:p>
            <a:pPr lvl="1"/>
            <a:r>
              <a:rPr lang="en-US" dirty="0"/>
              <a:t>Strong budget appeal and consistent fill rates</a:t>
            </a:r>
          </a:p>
          <a:p>
            <a:pPr lvl="1"/>
            <a:endParaRPr lang="en-US" dirty="0"/>
          </a:p>
          <a:p>
            <a:r>
              <a:rPr lang="en-US" dirty="0"/>
              <a:t>Occupancy is higher and                                                                             tighter across mid‑range                                                                           categories</a:t>
            </a:r>
          </a:p>
          <a:p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8BA3001-BF90-4EF4-8013-E45FC5A27D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253555"/>
              </p:ext>
            </p:extLst>
          </p:nvPr>
        </p:nvGraphicFramePr>
        <p:xfrm>
          <a:off x="5159830" y="3516086"/>
          <a:ext cx="6629400" cy="3341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7003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0BF4-B297-0559-70FE-A8A1C10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Strategic Insights: What drives Performance?</a:t>
            </a:r>
            <a:br>
              <a:rPr lang="en-CA"/>
            </a:br>
            <a:r>
              <a:rPr lang="en-CA" sz="2000"/>
              <a:t>Scope, Capacity and Duration</a:t>
            </a:r>
            <a:endParaRPr lang="en-CA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D7F3-2C0F-64EC-6E29-2307EF5D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Scope sets the baseline</a:t>
            </a:r>
            <a:r>
              <a:rPr lang="en-US" dirty="0"/>
              <a:t> </a:t>
            </a:r>
            <a:r>
              <a:rPr lang="en-CA" dirty="0"/>
              <a:t>🏠</a:t>
            </a:r>
            <a:endParaRPr lang="en-US" dirty="0"/>
          </a:p>
          <a:p>
            <a:pPr lvl="1"/>
            <a:r>
              <a:rPr lang="en-US" i="1" dirty="0"/>
              <a:t>Entire listings dominate revenue; Private rooms drive occupancy</a:t>
            </a:r>
            <a:endParaRPr lang="en-US" dirty="0"/>
          </a:p>
          <a:p>
            <a:r>
              <a:rPr lang="en-US" b="1" dirty="0"/>
              <a:t>Capacity scales opportunity</a:t>
            </a:r>
            <a:r>
              <a:rPr lang="en-US" dirty="0"/>
              <a:t> </a:t>
            </a:r>
            <a:r>
              <a:rPr lang="en-CA" b="1" dirty="0"/>
              <a:t>👥</a:t>
            </a:r>
            <a:endParaRPr lang="en-US" dirty="0"/>
          </a:p>
          <a:p>
            <a:pPr lvl="1"/>
            <a:r>
              <a:rPr lang="en-US" i="1" dirty="0"/>
              <a:t>Group-sized listings earn more; mid-range fills faster</a:t>
            </a:r>
            <a:endParaRPr lang="en-US" dirty="0"/>
          </a:p>
          <a:p>
            <a:r>
              <a:rPr lang="en-US" b="1" dirty="0"/>
              <a:t>Duration shapes demand</a:t>
            </a:r>
            <a:r>
              <a:rPr lang="en-US" dirty="0"/>
              <a:t> </a:t>
            </a:r>
            <a:r>
              <a:rPr lang="en-CA" dirty="0"/>
              <a:t>📅</a:t>
            </a:r>
            <a:endParaRPr lang="en-US" dirty="0"/>
          </a:p>
          <a:p>
            <a:pPr lvl="1"/>
            <a:r>
              <a:rPr lang="en-US" i="1" dirty="0"/>
              <a:t>Lease-style leads occupancy; short-term holds pricing power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dirty="0"/>
              <a:t>Performance is multi-factorial — but these three levers drive the biggest shifts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016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0BA43-5CD5-37F4-3D9B-383BC932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Deep Dive</a:t>
            </a: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ABD7BED-6A90-45AD-86CC-273BAAF04F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09191"/>
              </p:ext>
            </p:extLst>
          </p:nvPr>
        </p:nvGraphicFramePr>
        <p:xfrm>
          <a:off x="704850" y="1373078"/>
          <a:ext cx="10782300" cy="499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F163DCC-8DA7-EE90-5E6B-4308B4C5AC7B}"/>
              </a:ext>
            </a:extLst>
          </p:cNvPr>
          <p:cNvSpPr/>
          <p:nvPr/>
        </p:nvSpPr>
        <p:spPr>
          <a:xfrm>
            <a:off x="1208314" y="5072744"/>
            <a:ext cx="1023257" cy="93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Duration:</a:t>
            </a:r>
          </a:p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Capacity:</a:t>
            </a:r>
          </a:p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Scope:</a:t>
            </a:r>
          </a:p>
        </p:txBody>
      </p:sp>
    </p:spTree>
    <p:extLst>
      <p:ext uri="{BB962C8B-B14F-4D97-AF65-F5344CB8AC3E}">
        <p14:creationId xmlns:p14="http://schemas.microsoft.com/office/powerpoint/2010/main" val="1273847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5DF3-9A14-6B79-CF9F-3F037B3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Deep Dive</a:t>
            </a:r>
            <a:b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Key Patterns from Segment Intersections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88005-1372-51BF-4A2C-C9A6F0AD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Entire Group-sized listings dominate revenue </a:t>
            </a:r>
            <a:r>
              <a:rPr lang="en-CA" dirty="0"/>
              <a:t>👥💰</a:t>
            </a:r>
            <a:endParaRPr lang="en-US" b="1" dirty="0"/>
          </a:p>
          <a:p>
            <a:pPr lvl="1"/>
            <a:r>
              <a:rPr lang="en-US" i="1" dirty="0"/>
              <a:t>Multi-guest bookings and premium pricing drive top-line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Entire Lease-style listings lead occupancy </a:t>
            </a:r>
            <a:r>
              <a:rPr lang="en-CA" dirty="0"/>
              <a:t>🛏️📈</a:t>
            </a:r>
            <a:endParaRPr lang="en-US" b="1" dirty="0"/>
          </a:p>
          <a:p>
            <a:pPr lvl="1"/>
            <a:r>
              <a:rPr lang="en-US" dirty="0"/>
              <a:t>Large and Medium both hit 255 days</a:t>
            </a:r>
          </a:p>
          <a:p>
            <a:pPr lvl="1"/>
            <a:r>
              <a:rPr lang="en-US" i="1" dirty="0"/>
              <a:t>Consistent occupancy from longer stays and stable tenants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Short-term Group listings remain competitive </a:t>
            </a:r>
            <a:r>
              <a:rPr lang="en-CA" dirty="0"/>
              <a:t>⏱️💵</a:t>
            </a:r>
            <a:endParaRPr lang="en-US" b="1" dirty="0"/>
          </a:p>
          <a:p>
            <a:pPr lvl="1"/>
            <a:r>
              <a:rPr lang="en-US" dirty="0"/>
              <a:t>Occupancy is lower (~105 days)</a:t>
            </a:r>
          </a:p>
          <a:p>
            <a:pPr lvl="1"/>
            <a:r>
              <a:rPr lang="en-US" i="1" dirty="0"/>
              <a:t>Still strong revenue due to higher nightly rates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Segment strategy matters </a:t>
            </a:r>
            <a:r>
              <a:rPr lang="en-CA" dirty="0"/>
              <a:t>🔀</a:t>
            </a:r>
            <a:endParaRPr lang="en-US" b="1" dirty="0"/>
          </a:p>
          <a:p>
            <a:pPr lvl="1"/>
            <a:r>
              <a:rPr lang="en-US" dirty="0"/>
              <a:t>High revenue ≠ high occupancy</a:t>
            </a:r>
          </a:p>
          <a:p>
            <a:pPr lvl="1"/>
            <a:r>
              <a:rPr lang="en-US" i="1" dirty="0"/>
              <a:t>Optimizing listing performance requires aligning scope, size, and duration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EB14-081C-E7AA-13CF-AC14ED61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Closing Insight: Strategic Alignment Wins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672F-6667-59CC-C967-96144659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1100" b="1" u="sng" dirty="0"/>
          </a:p>
          <a:p>
            <a:pPr marL="0" indent="0" algn="ctr">
              <a:buNone/>
            </a:pPr>
            <a:r>
              <a:rPr lang="en-US" sz="4400" b="1" u="sng" dirty="0"/>
              <a:t>Performance is alignment:</a:t>
            </a:r>
            <a:r>
              <a:rPr lang="en-US" sz="4400" b="1" dirty="0"/>
              <a:t>                  Scope × Capacity × Duration</a:t>
            </a:r>
            <a:endParaRPr lang="en-US" sz="4400" dirty="0"/>
          </a:p>
          <a:p>
            <a:pPr marL="0" indent="0" algn="ctr">
              <a:buNone/>
            </a:pPr>
            <a:r>
              <a:rPr lang="en-US" sz="2000" dirty="0"/>
              <a:t> </a:t>
            </a:r>
            <a:endParaRPr lang="en-US" sz="1600" dirty="0"/>
          </a:p>
          <a:p>
            <a:pPr marL="0" indent="0">
              <a:buNone/>
            </a:pPr>
            <a:r>
              <a:rPr lang="en-CA" sz="4800" dirty="0"/>
              <a:t>                🏠             👥           ⏱️ 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81CDD-5E5A-337D-FDC2-1F67D2EE79EE}"/>
              </a:ext>
            </a:extLst>
          </p:cNvPr>
          <p:cNvSpPr/>
          <p:nvPr/>
        </p:nvSpPr>
        <p:spPr>
          <a:xfrm>
            <a:off x="838200" y="5240791"/>
            <a:ext cx="9383486" cy="80554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Optimize your listings by aligning scope, capacity, and duration with local demand!</a:t>
            </a:r>
            <a:endParaRPr lang="en-CA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81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691</Words>
  <Application>Microsoft Office PowerPoint</Application>
  <PresentationFormat>Widescreen</PresentationFormat>
  <Paragraphs>142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Airbnb Toronto:  Performance Snapshot</vt:lpstr>
      <vt:lpstr>Objective Framing the performance story</vt:lpstr>
      <vt:lpstr>Market Statistics Snapshot of supply, scope, and performance drivers</vt:lpstr>
      <vt:lpstr>Market Composition Where listings are concentrated</vt:lpstr>
      <vt:lpstr>Rental Scope  Performance by listing type (Entire, Private, Shared)</vt:lpstr>
      <vt:lpstr>Neighbourhoods Downtown leads in both revenue and occupancy</vt:lpstr>
      <vt:lpstr>Property Type</vt:lpstr>
      <vt:lpstr>Stay Durations Short-term, Long-term, Seasonal and Lease-style</vt:lpstr>
      <vt:lpstr>Guest Capacity Performance by guest capacity and rental scope</vt:lpstr>
      <vt:lpstr>Strategic Insights: What drives Performance? Scope, Capacity and Duration</vt:lpstr>
      <vt:lpstr>Deep Dive</vt:lpstr>
      <vt:lpstr>Deep Dive Key Patterns from Segment Intersections</vt:lpstr>
      <vt:lpstr>Closing Insight: Strategic Alignment Wins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Yosias T</dc:creator>
  <cp:lastModifiedBy>Yosias T</cp:lastModifiedBy>
  <cp:revision>4</cp:revision>
  <dcterms:created xsi:type="dcterms:W3CDTF">2025-12-04T21:48:05Z</dcterms:created>
  <dcterms:modified xsi:type="dcterms:W3CDTF">2025-12-18T22:54:47Z</dcterms:modified>
</cp:coreProperties>
</file>